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Proxima Nova Bold" charset="1" panose="02000506030000020004"/>
      <p:regular r:id="rId21"/>
    </p:embeddedFont>
    <p:embeddedFont>
      <p:font typeface="Proxima Nova" charset="1" panose="02000506030000020004"/>
      <p:regular r:id="rId22"/>
    </p:embeddedFont>
    <p:embeddedFont>
      <p:font typeface="Proxima Nova Italics" charset="1" panose="02000506030000020004"/>
      <p:regular r:id="rId23"/>
    </p:embeddedFont>
    <p:embeddedFont>
      <p:font typeface="Proxima Nova Bold Italics" charset="1" panose="02000506030000020004"/>
      <p:regular r:id="rId24"/>
    </p:embeddedFont>
    <p:embeddedFont>
      <p:font typeface="Open Sans" charset="1" panose="020B0606030504020204"/>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11" Target="../media/image30.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25.png" Type="http://schemas.openxmlformats.org/officeDocument/2006/relationships/image"/><Relationship Id="rId3" Target="../media/image26.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31.png" Type="http://schemas.openxmlformats.org/officeDocument/2006/relationships/image"/><Relationship Id="rId9" Target="../media/image3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media/image33.png" Type="http://schemas.openxmlformats.org/officeDocument/2006/relationships/image"/><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svg" Type="http://schemas.openxmlformats.org/officeDocument/2006/relationships/image"/><Relationship Id="rId12" Target="../media/image34.png" Type="http://schemas.openxmlformats.org/officeDocument/2006/relationships/image"/><Relationship Id="rId13" Target="../media/image35.png" Type="http://schemas.openxmlformats.org/officeDocument/2006/relationships/image"/><Relationship Id="rId14" Target="../media/image36.pn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11" Target="../media/image30.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31.png" Type="http://schemas.openxmlformats.org/officeDocument/2006/relationships/image"/><Relationship Id="rId15" Target="../media/image32.svg" Type="http://schemas.openxmlformats.org/officeDocument/2006/relationships/image"/><Relationship Id="rId2" Target="../media/image25.png" Type="http://schemas.openxmlformats.org/officeDocument/2006/relationships/image"/><Relationship Id="rId3" Target="../media/image26.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7.png" Type="http://schemas.openxmlformats.org/officeDocument/2006/relationships/image"/><Relationship Id="rId5" Target="../media/image38.jpeg" Type="http://schemas.openxmlformats.org/officeDocument/2006/relationships/image"/><Relationship Id="rId6" Target="../media/image39.jpeg" Type="http://schemas.openxmlformats.org/officeDocument/2006/relationships/image"/><Relationship Id="rId7" Target="../media/image4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11" Target="../media/image32.svg" Type="http://schemas.openxmlformats.org/officeDocument/2006/relationships/image"/><Relationship Id="rId12" Target="../media/image4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11" Target="../media/image32.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821320" y="5615759"/>
            <a:ext cx="6503276" cy="4114800"/>
          </a:xfrm>
          <a:custGeom>
            <a:avLst/>
            <a:gdLst/>
            <a:ahLst/>
            <a:cxnLst/>
            <a:rect r="r" b="b" t="t" l="l"/>
            <a:pathLst>
              <a:path h="4114800" w="6503276">
                <a:moveTo>
                  <a:pt x="0" y="0"/>
                </a:moveTo>
                <a:lnTo>
                  <a:pt x="6503276" y="0"/>
                </a:lnTo>
                <a:lnTo>
                  <a:pt x="650327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786864" y="2106633"/>
            <a:ext cx="2814723" cy="4539876"/>
          </a:xfrm>
          <a:custGeom>
            <a:avLst/>
            <a:gdLst/>
            <a:ahLst/>
            <a:cxnLst/>
            <a:rect r="r" b="b" t="t" l="l"/>
            <a:pathLst>
              <a:path h="4539876" w="2814723">
                <a:moveTo>
                  <a:pt x="0" y="0"/>
                </a:moveTo>
                <a:lnTo>
                  <a:pt x="2814724" y="0"/>
                </a:lnTo>
                <a:lnTo>
                  <a:pt x="2814724" y="4539876"/>
                </a:lnTo>
                <a:lnTo>
                  <a:pt x="0" y="45398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555416" y="8291512"/>
            <a:ext cx="4100910" cy="2878093"/>
          </a:xfrm>
          <a:custGeom>
            <a:avLst/>
            <a:gdLst/>
            <a:ahLst/>
            <a:cxnLst/>
            <a:rect r="r" b="b" t="t" l="l"/>
            <a:pathLst>
              <a:path h="2878093" w="4100910">
                <a:moveTo>
                  <a:pt x="0" y="0"/>
                </a:moveTo>
                <a:lnTo>
                  <a:pt x="4100910" y="0"/>
                </a:lnTo>
                <a:lnTo>
                  <a:pt x="4100910" y="2878094"/>
                </a:lnTo>
                <a:lnTo>
                  <a:pt x="0" y="28780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338904" y="2531709"/>
            <a:ext cx="2708287" cy="4114800"/>
          </a:xfrm>
          <a:custGeom>
            <a:avLst/>
            <a:gdLst/>
            <a:ahLst/>
            <a:cxnLst/>
            <a:rect r="r" b="b" t="t" l="l"/>
            <a:pathLst>
              <a:path h="4114800" w="2708287">
                <a:moveTo>
                  <a:pt x="0" y="0"/>
                </a:moveTo>
                <a:lnTo>
                  <a:pt x="2708286" y="0"/>
                </a:lnTo>
                <a:lnTo>
                  <a:pt x="2708286"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3092407" y="8229600"/>
            <a:ext cx="6357135" cy="4114800"/>
          </a:xfrm>
          <a:custGeom>
            <a:avLst/>
            <a:gdLst/>
            <a:ahLst/>
            <a:cxnLst/>
            <a:rect r="r" b="b" t="t" l="l"/>
            <a:pathLst>
              <a:path h="4114800" w="6357135">
                <a:moveTo>
                  <a:pt x="0" y="0"/>
                </a:moveTo>
                <a:lnTo>
                  <a:pt x="6357135" y="0"/>
                </a:lnTo>
                <a:lnTo>
                  <a:pt x="6357135"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true" flipV="false" rot="0">
            <a:off x="-454268" y="-1028700"/>
            <a:ext cx="2551176" cy="4114800"/>
          </a:xfrm>
          <a:custGeom>
            <a:avLst/>
            <a:gdLst/>
            <a:ahLst/>
            <a:cxnLst/>
            <a:rect r="r" b="b" t="t" l="l"/>
            <a:pathLst>
              <a:path h="4114800" w="2551176">
                <a:moveTo>
                  <a:pt x="2551176" y="0"/>
                </a:moveTo>
                <a:lnTo>
                  <a:pt x="0" y="0"/>
                </a:lnTo>
                <a:lnTo>
                  <a:pt x="0" y="4114800"/>
                </a:lnTo>
                <a:lnTo>
                  <a:pt x="2551176" y="4114800"/>
                </a:lnTo>
                <a:lnTo>
                  <a:pt x="2551176"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8291544" y="1756544"/>
            <a:ext cx="9443917" cy="3453653"/>
          </a:xfrm>
          <a:prstGeom prst="rect">
            <a:avLst/>
          </a:prstGeom>
        </p:spPr>
        <p:txBody>
          <a:bodyPr anchor="t" rtlCol="false" tIns="0" lIns="0" bIns="0" rIns="0">
            <a:spAutoFit/>
          </a:bodyPr>
          <a:lstStyle/>
          <a:p>
            <a:pPr algn="l">
              <a:lnSpc>
                <a:spcPts val="13040"/>
              </a:lnSpc>
            </a:pPr>
            <a:r>
              <a:rPr lang="en-US" sz="14818" spc="-933" b="true">
                <a:solidFill>
                  <a:srgbClr val="1C0140"/>
                </a:solidFill>
                <a:latin typeface="Proxima Nova Bold"/>
                <a:ea typeface="Proxima Nova Bold"/>
                <a:cs typeface="Proxima Nova Bold"/>
                <a:sym typeface="Proxima Nova Bold"/>
              </a:rPr>
              <a:t>Projeto</a:t>
            </a:r>
          </a:p>
          <a:p>
            <a:pPr algn="l">
              <a:lnSpc>
                <a:spcPts val="13040"/>
              </a:lnSpc>
            </a:pPr>
            <a:r>
              <a:rPr lang="en-US" sz="14818" spc="-933" b="true">
                <a:solidFill>
                  <a:srgbClr val="1C0140"/>
                </a:solidFill>
                <a:latin typeface="Proxima Nova Bold"/>
                <a:ea typeface="Proxima Nova Bold"/>
                <a:cs typeface="Proxima Nova Bold"/>
                <a:sym typeface="Proxima Nova Bold"/>
              </a:rPr>
              <a:t>Back-End</a:t>
            </a:r>
          </a:p>
        </p:txBody>
      </p:sp>
      <p:sp>
        <p:nvSpPr>
          <p:cNvPr name="TextBox 9" id="9"/>
          <p:cNvSpPr txBox="true"/>
          <p:nvPr/>
        </p:nvSpPr>
        <p:spPr>
          <a:xfrm rot="0">
            <a:off x="13698028" y="7518767"/>
            <a:ext cx="3561272" cy="1402952"/>
          </a:xfrm>
          <a:prstGeom prst="rect">
            <a:avLst/>
          </a:prstGeom>
        </p:spPr>
        <p:txBody>
          <a:bodyPr anchor="t" rtlCol="false" tIns="0" lIns="0" bIns="0" rIns="0">
            <a:spAutoFit/>
          </a:bodyPr>
          <a:lstStyle/>
          <a:p>
            <a:pPr algn="r">
              <a:lnSpc>
                <a:spcPts val="1894"/>
              </a:lnSpc>
            </a:pPr>
            <a:r>
              <a:rPr lang="en-US" sz="1353">
                <a:solidFill>
                  <a:srgbClr val="1C0140"/>
                </a:solidFill>
                <a:latin typeface="Proxima Nova"/>
                <a:ea typeface="Proxima Nova"/>
                <a:cs typeface="Proxima Nova"/>
                <a:sym typeface="Proxima Nova"/>
              </a:rPr>
              <a:t>Joao Pedro Nicacio Athademo da Silva </a:t>
            </a:r>
          </a:p>
          <a:p>
            <a:pPr algn="r">
              <a:lnSpc>
                <a:spcPts val="1894"/>
              </a:lnSpc>
            </a:pPr>
            <a:r>
              <a:rPr lang="en-US" sz="1353">
                <a:solidFill>
                  <a:srgbClr val="1C0140"/>
                </a:solidFill>
                <a:latin typeface="Proxima Nova"/>
                <a:ea typeface="Proxima Nova"/>
                <a:cs typeface="Proxima Nova"/>
                <a:sym typeface="Proxima Nova"/>
              </a:rPr>
              <a:t> Giovanna Gomes Perrone</a:t>
            </a:r>
          </a:p>
          <a:p>
            <a:pPr algn="r">
              <a:lnSpc>
                <a:spcPts val="1894"/>
              </a:lnSpc>
            </a:pPr>
            <a:r>
              <a:rPr lang="en-US" sz="1353">
                <a:solidFill>
                  <a:srgbClr val="1C0140"/>
                </a:solidFill>
                <a:latin typeface="Proxima Nova"/>
                <a:ea typeface="Proxima Nova"/>
                <a:cs typeface="Proxima Nova"/>
                <a:sym typeface="Proxima Nova"/>
              </a:rPr>
              <a:t>Maria Eduarda Perpetuo Lopes dos Santos </a:t>
            </a:r>
          </a:p>
          <a:p>
            <a:pPr algn="r">
              <a:lnSpc>
                <a:spcPts val="1894"/>
              </a:lnSpc>
            </a:pPr>
            <a:r>
              <a:rPr lang="en-US" sz="1353">
                <a:solidFill>
                  <a:srgbClr val="1C0140"/>
                </a:solidFill>
                <a:latin typeface="Proxima Nova"/>
                <a:ea typeface="Proxima Nova"/>
                <a:cs typeface="Proxima Nova"/>
                <a:sym typeface="Proxima Nova"/>
              </a:rPr>
              <a:t>Luana Salles Souza Miranda</a:t>
            </a:r>
          </a:p>
          <a:p>
            <a:pPr algn="r">
              <a:lnSpc>
                <a:spcPts val="1894"/>
              </a:lnSpc>
            </a:pPr>
            <a:r>
              <a:rPr lang="en-US" sz="1353">
                <a:solidFill>
                  <a:srgbClr val="1C0140"/>
                </a:solidFill>
                <a:latin typeface="Proxima Nova"/>
                <a:ea typeface="Proxima Nova"/>
                <a:cs typeface="Proxima Nova"/>
                <a:sym typeface="Proxima Nova"/>
              </a:rPr>
              <a:t>Julia</a:t>
            </a:r>
          </a:p>
          <a:p>
            <a:pPr algn="r">
              <a:lnSpc>
                <a:spcPts val="1894"/>
              </a:lnSpc>
            </a:pPr>
          </a:p>
        </p:txBody>
      </p:sp>
      <p:sp>
        <p:nvSpPr>
          <p:cNvPr name="TextBox 10" id="10"/>
          <p:cNvSpPr txBox="true"/>
          <p:nvPr/>
        </p:nvSpPr>
        <p:spPr>
          <a:xfrm rot="0">
            <a:off x="12471033" y="8990933"/>
            <a:ext cx="4788267" cy="267367"/>
          </a:xfrm>
          <a:prstGeom prst="rect">
            <a:avLst/>
          </a:prstGeom>
        </p:spPr>
        <p:txBody>
          <a:bodyPr anchor="t" rtlCol="false" tIns="0" lIns="0" bIns="0" rIns="0">
            <a:spAutoFit/>
          </a:bodyPr>
          <a:lstStyle/>
          <a:p>
            <a:pPr algn="r">
              <a:lnSpc>
                <a:spcPts val="1909"/>
              </a:lnSpc>
            </a:pPr>
            <a:r>
              <a:rPr lang="en-US" sz="2170" i="true" spc="62">
                <a:solidFill>
                  <a:srgbClr val="1C0140"/>
                </a:solidFill>
                <a:latin typeface="Proxima Nova Italics"/>
                <a:ea typeface="Proxima Nova Italics"/>
                <a:cs typeface="Proxima Nova Italics"/>
                <a:sym typeface="Proxima Nova Italics"/>
              </a:rPr>
              <a:t>Ibmec_2026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521878" y="-466924"/>
            <a:ext cx="2870338" cy="4902751"/>
          </a:xfrm>
          <a:custGeom>
            <a:avLst/>
            <a:gdLst/>
            <a:ahLst/>
            <a:cxnLst/>
            <a:rect r="r" b="b" t="t" l="l"/>
            <a:pathLst>
              <a:path h="4902751" w="2870338">
                <a:moveTo>
                  <a:pt x="0" y="0"/>
                </a:moveTo>
                <a:lnTo>
                  <a:pt x="2870338" y="0"/>
                </a:lnTo>
                <a:lnTo>
                  <a:pt x="2870338" y="4902751"/>
                </a:lnTo>
                <a:lnTo>
                  <a:pt x="0" y="49027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34000" y="4435827"/>
            <a:ext cx="5511729" cy="3868232"/>
          </a:xfrm>
          <a:custGeom>
            <a:avLst/>
            <a:gdLst/>
            <a:ahLst/>
            <a:cxnLst/>
            <a:rect r="r" b="b" t="t" l="l"/>
            <a:pathLst>
              <a:path h="3868232" w="5511729">
                <a:moveTo>
                  <a:pt x="0" y="0"/>
                </a:moveTo>
                <a:lnTo>
                  <a:pt x="5511729" y="0"/>
                </a:lnTo>
                <a:lnTo>
                  <a:pt x="5511729" y="3868232"/>
                </a:lnTo>
                <a:lnTo>
                  <a:pt x="0" y="38682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4096463" y="1028700"/>
            <a:ext cx="3841974" cy="4902751"/>
          </a:xfrm>
          <a:custGeom>
            <a:avLst/>
            <a:gdLst/>
            <a:ahLst/>
            <a:cxnLst/>
            <a:rect r="r" b="b" t="t" l="l"/>
            <a:pathLst>
              <a:path h="4902751" w="3841974">
                <a:moveTo>
                  <a:pt x="0" y="0"/>
                </a:moveTo>
                <a:lnTo>
                  <a:pt x="3841974" y="0"/>
                </a:lnTo>
                <a:lnTo>
                  <a:pt x="3841974" y="4902751"/>
                </a:lnTo>
                <a:lnTo>
                  <a:pt x="0" y="49027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90492" y="6813873"/>
            <a:ext cx="7574475" cy="4902751"/>
          </a:xfrm>
          <a:custGeom>
            <a:avLst/>
            <a:gdLst/>
            <a:ahLst/>
            <a:cxnLst/>
            <a:rect r="r" b="b" t="t" l="l"/>
            <a:pathLst>
              <a:path h="4902751" w="7574475">
                <a:moveTo>
                  <a:pt x="0" y="0"/>
                </a:moveTo>
                <a:lnTo>
                  <a:pt x="7574475" y="0"/>
                </a:lnTo>
                <a:lnTo>
                  <a:pt x="7574475" y="4902751"/>
                </a:lnTo>
                <a:lnTo>
                  <a:pt x="0" y="490275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7666515" y="5807652"/>
            <a:ext cx="1832956" cy="2057400"/>
          </a:xfrm>
          <a:custGeom>
            <a:avLst/>
            <a:gdLst/>
            <a:ahLst/>
            <a:cxnLst/>
            <a:rect r="r" b="b" t="t" l="l"/>
            <a:pathLst>
              <a:path h="2057400" w="1832956">
                <a:moveTo>
                  <a:pt x="0" y="0"/>
                </a:moveTo>
                <a:lnTo>
                  <a:pt x="1832957" y="0"/>
                </a:lnTo>
                <a:lnTo>
                  <a:pt x="1832957"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10600303" y="2251108"/>
            <a:ext cx="6658997" cy="1409228"/>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Introdução</a:t>
            </a:r>
          </a:p>
        </p:txBody>
      </p:sp>
      <p:sp>
        <p:nvSpPr>
          <p:cNvPr name="TextBox 8" id="8"/>
          <p:cNvSpPr txBox="true"/>
          <p:nvPr/>
        </p:nvSpPr>
        <p:spPr>
          <a:xfrm rot="0">
            <a:off x="10600303" y="6718623"/>
            <a:ext cx="6658997" cy="2197608"/>
          </a:xfrm>
          <a:prstGeom prst="rect">
            <a:avLst/>
          </a:prstGeom>
        </p:spPr>
        <p:txBody>
          <a:bodyPr anchor="t" rtlCol="false" tIns="0" lIns="0" bIns="0" rIns="0">
            <a:spAutoFit/>
          </a:bodyPr>
          <a:lstStyle/>
          <a:p>
            <a:pPr algn="l">
              <a:lnSpc>
                <a:spcPts val="3590"/>
              </a:lnSpc>
            </a:pPr>
            <a:r>
              <a:rPr lang="en-US" sz="2100">
                <a:solidFill>
                  <a:srgbClr val="1C0140"/>
                </a:solidFill>
                <a:latin typeface="Proxima Nova"/>
                <a:ea typeface="Proxima Nova"/>
                <a:cs typeface="Proxima Nova"/>
                <a:sym typeface="Proxima Nova"/>
              </a:rPr>
              <a:t>Lorem ipsum dolor sit amet, consectetur adipiscing elit, sed do eiusmod tempor incididunt ut labore et dolore magna aliqua. Ut enim ad minim veniam, quis nostrud exercitation ullamco laboris nisi ut aliquip ex ea commodo consequat. </a:t>
            </a:r>
          </a:p>
        </p:txBody>
      </p:sp>
      <p:sp>
        <p:nvSpPr>
          <p:cNvPr name="TextBox 9" id="9"/>
          <p:cNvSpPr txBox="true"/>
          <p:nvPr/>
        </p:nvSpPr>
        <p:spPr>
          <a:xfrm rot="0">
            <a:off x="10600303" y="4770250"/>
            <a:ext cx="5481737" cy="1302258"/>
          </a:xfrm>
          <a:prstGeom prst="rect">
            <a:avLst/>
          </a:prstGeom>
        </p:spPr>
        <p:txBody>
          <a:bodyPr anchor="t" rtlCol="false" tIns="0" lIns="0" bIns="0" rIns="0">
            <a:spAutoFit/>
          </a:bodyPr>
          <a:lstStyle/>
          <a:p>
            <a:pPr algn="l" marL="453390" indent="-226695" lvl="1">
              <a:lnSpc>
                <a:spcPts val="3590"/>
              </a:lnSpc>
              <a:buFont typeface="Arial"/>
              <a:buChar char="•"/>
            </a:pPr>
            <a:r>
              <a:rPr lang="en-US" sz="2100">
                <a:solidFill>
                  <a:srgbClr val="1C0140"/>
                </a:solidFill>
                <a:latin typeface="Proxima Nova"/>
                <a:ea typeface="Proxima Nova"/>
                <a:cs typeface="Proxima Nova"/>
                <a:sym typeface="Proxima Nova"/>
              </a:rPr>
              <a:t>Processo manual de validação de estágios</a:t>
            </a:r>
          </a:p>
          <a:p>
            <a:pPr algn="l" marL="453390" indent="-226695" lvl="1">
              <a:lnSpc>
                <a:spcPts val="3590"/>
              </a:lnSpc>
              <a:buFont typeface="Arial"/>
              <a:buChar char="•"/>
            </a:pPr>
            <a:r>
              <a:rPr lang="en-US" sz="2100">
                <a:solidFill>
                  <a:srgbClr val="1C0140"/>
                </a:solidFill>
                <a:latin typeface="Proxima Nova"/>
                <a:ea typeface="Proxima Nova"/>
                <a:cs typeface="Proxima Nova"/>
                <a:sym typeface="Proxima Nova"/>
              </a:rPr>
              <a:t>Demora e erros humanos</a:t>
            </a:r>
          </a:p>
          <a:p>
            <a:pPr algn="l">
              <a:lnSpc>
                <a:spcPts val="3590"/>
              </a:lnSpc>
            </a:pPr>
          </a:p>
        </p:txBody>
      </p:sp>
      <p:sp>
        <p:nvSpPr>
          <p:cNvPr name="TextBox 10" id="10"/>
          <p:cNvSpPr txBox="true"/>
          <p:nvPr/>
        </p:nvSpPr>
        <p:spPr>
          <a:xfrm rot="0">
            <a:off x="10600303" y="3912039"/>
            <a:ext cx="1458077" cy="523788"/>
          </a:xfrm>
          <a:prstGeom prst="rect">
            <a:avLst/>
          </a:prstGeom>
        </p:spPr>
        <p:txBody>
          <a:bodyPr anchor="t" rtlCol="false" tIns="0" lIns="0" bIns="0" rIns="0">
            <a:spAutoFit/>
          </a:bodyPr>
          <a:lstStyle/>
          <a:p>
            <a:pPr algn="ctr">
              <a:lnSpc>
                <a:spcPts val="4308"/>
              </a:lnSpc>
              <a:spcBef>
                <a:spcPct val="0"/>
              </a:spcBef>
            </a:pPr>
            <a:r>
              <a:rPr lang="en-US" sz="3077" i="true" spc="-193">
                <a:solidFill>
                  <a:srgbClr val="1C0140"/>
                </a:solidFill>
                <a:latin typeface="Proxima Nova Italics"/>
                <a:ea typeface="Proxima Nova Italics"/>
                <a:cs typeface="Proxima Nova Italics"/>
                <a:sym typeface="Proxima Nova Italics"/>
              </a:rPr>
              <a:t>Problema</a:t>
            </a:r>
          </a:p>
        </p:txBody>
      </p:sp>
      <p:sp>
        <p:nvSpPr>
          <p:cNvPr name="TextBox 11" id="11"/>
          <p:cNvSpPr txBox="true"/>
          <p:nvPr/>
        </p:nvSpPr>
        <p:spPr>
          <a:xfrm rot="0">
            <a:off x="10716760" y="6015358"/>
            <a:ext cx="1225164" cy="523788"/>
          </a:xfrm>
          <a:prstGeom prst="rect">
            <a:avLst/>
          </a:prstGeom>
        </p:spPr>
        <p:txBody>
          <a:bodyPr anchor="t" rtlCol="false" tIns="0" lIns="0" bIns="0" rIns="0">
            <a:spAutoFit/>
          </a:bodyPr>
          <a:lstStyle/>
          <a:p>
            <a:pPr algn="ctr">
              <a:lnSpc>
                <a:spcPts val="4308"/>
              </a:lnSpc>
              <a:spcBef>
                <a:spcPct val="0"/>
              </a:spcBef>
            </a:pPr>
            <a:r>
              <a:rPr lang="en-US" sz="3077" i="true" spc="-193">
                <a:solidFill>
                  <a:srgbClr val="1C0140"/>
                </a:solidFill>
                <a:latin typeface="Proxima Nova Italics"/>
                <a:ea typeface="Proxima Nova Italics"/>
                <a:cs typeface="Proxima Nova Italics"/>
                <a:sym typeface="Proxima Nova Italics"/>
              </a:rPr>
              <a:t>Solução</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14616411" y="698866"/>
            <a:ext cx="4106217" cy="4571699"/>
          </a:xfrm>
          <a:custGeom>
            <a:avLst/>
            <a:gdLst/>
            <a:ahLst/>
            <a:cxnLst/>
            <a:rect r="r" b="b" t="t" l="l"/>
            <a:pathLst>
              <a:path h="4571699" w="4106217">
                <a:moveTo>
                  <a:pt x="0" y="0"/>
                </a:moveTo>
                <a:lnTo>
                  <a:pt x="4106216" y="0"/>
                </a:lnTo>
                <a:lnTo>
                  <a:pt x="4106216" y="4571699"/>
                </a:lnTo>
                <a:lnTo>
                  <a:pt x="0" y="45716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070575" y="-1068381"/>
            <a:ext cx="3898412" cy="4571699"/>
          </a:xfrm>
          <a:custGeom>
            <a:avLst/>
            <a:gdLst/>
            <a:ahLst/>
            <a:cxnLst/>
            <a:rect r="r" b="b" t="t" l="l"/>
            <a:pathLst>
              <a:path h="4571699" w="3898412">
                <a:moveTo>
                  <a:pt x="0" y="0"/>
                </a:moveTo>
                <a:lnTo>
                  <a:pt x="3898412" y="0"/>
                </a:lnTo>
                <a:lnTo>
                  <a:pt x="3898412" y="4571699"/>
                </a:lnTo>
                <a:lnTo>
                  <a:pt x="0" y="45716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998771" y="5539341"/>
            <a:ext cx="3341496" cy="4571699"/>
          </a:xfrm>
          <a:custGeom>
            <a:avLst/>
            <a:gdLst/>
            <a:ahLst/>
            <a:cxnLst/>
            <a:rect r="r" b="b" t="t" l="l"/>
            <a:pathLst>
              <a:path h="4571699" w="3341496">
                <a:moveTo>
                  <a:pt x="0" y="0"/>
                </a:moveTo>
                <a:lnTo>
                  <a:pt x="3341496" y="0"/>
                </a:lnTo>
                <a:lnTo>
                  <a:pt x="3341496" y="4571699"/>
                </a:lnTo>
                <a:lnTo>
                  <a:pt x="0" y="45716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1972167" y="3897526"/>
            <a:ext cx="2644244" cy="4516565"/>
          </a:xfrm>
          <a:custGeom>
            <a:avLst/>
            <a:gdLst/>
            <a:ahLst/>
            <a:cxnLst/>
            <a:rect r="r" b="b" t="t" l="l"/>
            <a:pathLst>
              <a:path h="4516565" w="2644244">
                <a:moveTo>
                  <a:pt x="0" y="0"/>
                </a:moveTo>
                <a:lnTo>
                  <a:pt x="2644244" y="0"/>
                </a:lnTo>
                <a:lnTo>
                  <a:pt x="2644244" y="4516565"/>
                </a:lnTo>
                <a:lnTo>
                  <a:pt x="0" y="45165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1637661" y="4083984"/>
            <a:ext cx="5653104" cy="4038874"/>
          </a:xfrm>
          <a:prstGeom prst="rect">
            <a:avLst/>
          </a:prstGeom>
        </p:spPr>
        <p:txBody>
          <a:bodyPr anchor="t" rtlCol="false" tIns="0" lIns="0" bIns="0" rIns="0">
            <a:spAutoFit/>
          </a:bodyPr>
          <a:lstStyle/>
          <a:p>
            <a:pPr algn="l" marL="646369" indent="-323184" lvl="1">
              <a:lnSpc>
                <a:spcPts val="4640"/>
              </a:lnSpc>
              <a:buFont typeface="Arial"/>
              <a:buChar char="•"/>
            </a:pPr>
            <a:r>
              <a:rPr lang="en-US" sz="2993" spc="-188">
                <a:solidFill>
                  <a:srgbClr val="000000"/>
                </a:solidFill>
                <a:latin typeface="Proxima Nova"/>
                <a:ea typeface="Proxima Nova"/>
                <a:cs typeface="Proxima Nova"/>
                <a:sym typeface="Proxima Nova"/>
              </a:rPr>
              <a:t>Voltado pa</a:t>
            </a:r>
            <a:r>
              <a:rPr lang="en-US" sz="2993" spc="-188">
                <a:solidFill>
                  <a:srgbClr val="000000"/>
                </a:solidFill>
                <a:latin typeface="Proxima Nova"/>
                <a:ea typeface="Proxima Nova"/>
                <a:cs typeface="Proxima Nova"/>
                <a:sym typeface="Proxima Nova"/>
              </a:rPr>
              <a:t>ra o Ibmec</a:t>
            </a:r>
          </a:p>
          <a:p>
            <a:pPr algn="l" marL="646369" indent="-323184" lvl="1">
              <a:lnSpc>
                <a:spcPts val="4640"/>
              </a:lnSpc>
              <a:buFont typeface="Arial"/>
              <a:buChar char="•"/>
            </a:pPr>
            <a:r>
              <a:rPr lang="en-US" sz="2993" spc="-188">
                <a:solidFill>
                  <a:srgbClr val="000000"/>
                </a:solidFill>
                <a:latin typeface="Proxima Nova"/>
                <a:ea typeface="Proxima Nova"/>
                <a:cs typeface="Proxima Nova"/>
                <a:sym typeface="Proxima Nova"/>
              </a:rPr>
              <a:t>Automatiza análise de contratos de estágio</a:t>
            </a:r>
          </a:p>
          <a:p>
            <a:pPr algn="l" marL="646369" indent="-323184" lvl="1">
              <a:lnSpc>
                <a:spcPts val="4640"/>
              </a:lnSpc>
              <a:buFont typeface="Arial"/>
              <a:buChar char="•"/>
            </a:pPr>
            <a:r>
              <a:rPr lang="en-US" sz="2993" spc="-188">
                <a:solidFill>
                  <a:srgbClr val="000000"/>
                </a:solidFill>
                <a:latin typeface="Proxima Nova"/>
                <a:ea typeface="Proxima Nova"/>
                <a:cs typeface="Proxima Nova"/>
                <a:sym typeface="Proxima Nova"/>
              </a:rPr>
              <a:t>Reduz carga dos coordenadores</a:t>
            </a:r>
          </a:p>
          <a:p>
            <a:pPr algn="l" marL="646369" indent="-323184" lvl="1">
              <a:lnSpc>
                <a:spcPts val="4640"/>
              </a:lnSpc>
              <a:buFont typeface="Arial"/>
              <a:buChar char="•"/>
            </a:pPr>
            <a:r>
              <a:rPr lang="en-US" sz="2993" spc="-188">
                <a:solidFill>
                  <a:srgbClr val="000000"/>
                </a:solidFill>
                <a:latin typeface="Proxima Nova"/>
                <a:ea typeface="Proxima Nova"/>
                <a:cs typeface="Proxima Nova"/>
                <a:sym typeface="Proxima Nova"/>
              </a:rPr>
              <a:t>Aumenta velocidade de aprovação</a:t>
            </a:r>
          </a:p>
          <a:p>
            <a:pPr algn="l">
              <a:lnSpc>
                <a:spcPts val="4640"/>
              </a:lnSpc>
            </a:pPr>
          </a:p>
        </p:txBody>
      </p:sp>
      <p:sp>
        <p:nvSpPr>
          <p:cNvPr name="TextBox 7" id="7"/>
          <p:cNvSpPr txBox="true"/>
          <p:nvPr/>
        </p:nvSpPr>
        <p:spPr>
          <a:xfrm rot="0">
            <a:off x="1637661" y="2051797"/>
            <a:ext cx="10334506" cy="1410880"/>
          </a:xfrm>
          <a:prstGeom prst="rect">
            <a:avLst/>
          </a:prstGeom>
        </p:spPr>
        <p:txBody>
          <a:bodyPr anchor="t" rtlCol="false" tIns="0" lIns="0" bIns="0" rIns="0">
            <a:spAutoFit/>
          </a:bodyPr>
          <a:lstStyle/>
          <a:p>
            <a:pPr algn="just">
              <a:lnSpc>
                <a:spcPts val="10131"/>
              </a:lnSpc>
            </a:pPr>
            <a:r>
              <a:rPr lang="en-US" b="true" sz="11513" spc="-725">
                <a:solidFill>
                  <a:srgbClr val="1C0140"/>
                </a:solidFill>
                <a:latin typeface="Proxima Nova Bold"/>
                <a:ea typeface="Proxima Nova Bold"/>
                <a:cs typeface="Proxima Nova Bold"/>
                <a:sym typeface="Proxima Nova Bold"/>
              </a:rPr>
              <a:t>Contexto</a:t>
            </a:r>
          </a:p>
        </p:txBody>
      </p:sp>
      <p:sp>
        <p:nvSpPr>
          <p:cNvPr name="Freeform 8" id="8"/>
          <p:cNvSpPr/>
          <p:nvPr/>
        </p:nvSpPr>
        <p:spPr>
          <a:xfrm flipH="false" flipV="false" rot="0">
            <a:off x="10659496" y="8804616"/>
            <a:ext cx="4100910" cy="2878093"/>
          </a:xfrm>
          <a:custGeom>
            <a:avLst/>
            <a:gdLst/>
            <a:ahLst/>
            <a:cxnLst/>
            <a:rect r="r" b="b" t="t" l="l"/>
            <a:pathLst>
              <a:path h="2878093" w="4100910">
                <a:moveTo>
                  <a:pt x="0" y="0"/>
                </a:moveTo>
                <a:lnTo>
                  <a:pt x="4100911" y="0"/>
                </a:lnTo>
                <a:lnTo>
                  <a:pt x="4100911" y="2878094"/>
                </a:lnTo>
                <a:lnTo>
                  <a:pt x="0" y="287809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10768821" y="3776476"/>
            <a:ext cx="4492767" cy="4386574"/>
          </a:xfrm>
          <a:custGeom>
            <a:avLst/>
            <a:gdLst/>
            <a:ahLst/>
            <a:cxnLst/>
            <a:rect r="r" b="b" t="t" l="l"/>
            <a:pathLst>
              <a:path h="4386574" w="4492767">
                <a:moveTo>
                  <a:pt x="0" y="0"/>
                </a:moveTo>
                <a:lnTo>
                  <a:pt x="4492766" y="0"/>
                </a:lnTo>
                <a:lnTo>
                  <a:pt x="4492766" y="4386574"/>
                </a:lnTo>
                <a:lnTo>
                  <a:pt x="0" y="43865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4031273" y="1072383"/>
            <a:ext cx="3106566" cy="4250276"/>
          </a:xfrm>
          <a:custGeom>
            <a:avLst/>
            <a:gdLst/>
            <a:ahLst/>
            <a:cxnLst/>
            <a:rect r="r" b="b" t="t" l="l"/>
            <a:pathLst>
              <a:path h="4250276" w="3106566">
                <a:moveTo>
                  <a:pt x="3106566" y="0"/>
                </a:moveTo>
                <a:lnTo>
                  <a:pt x="0" y="0"/>
                </a:lnTo>
                <a:lnTo>
                  <a:pt x="0" y="4250277"/>
                </a:lnTo>
                <a:lnTo>
                  <a:pt x="3106566" y="4250277"/>
                </a:lnTo>
                <a:lnTo>
                  <a:pt x="31065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913926" y="4898623"/>
            <a:ext cx="3812587" cy="2675743"/>
          </a:xfrm>
          <a:custGeom>
            <a:avLst/>
            <a:gdLst/>
            <a:ahLst/>
            <a:cxnLst/>
            <a:rect r="r" b="b" t="t" l="l"/>
            <a:pathLst>
              <a:path h="2675743" w="3812587">
                <a:moveTo>
                  <a:pt x="0" y="0"/>
                </a:moveTo>
                <a:lnTo>
                  <a:pt x="3812588" y="0"/>
                </a:lnTo>
                <a:lnTo>
                  <a:pt x="3812588" y="2675743"/>
                </a:lnTo>
                <a:lnTo>
                  <a:pt x="0" y="267574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0146295" y="8811581"/>
            <a:ext cx="4510398" cy="2903056"/>
          </a:xfrm>
          <a:custGeom>
            <a:avLst/>
            <a:gdLst/>
            <a:ahLst/>
            <a:cxnLst/>
            <a:rect r="r" b="b" t="t" l="l"/>
            <a:pathLst>
              <a:path h="2903056" w="4510398">
                <a:moveTo>
                  <a:pt x="0" y="0"/>
                </a:moveTo>
                <a:lnTo>
                  <a:pt x="4510398" y="0"/>
                </a:lnTo>
                <a:lnTo>
                  <a:pt x="4510398" y="2903056"/>
                </a:lnTo>
                <a:lnTo>
                  <a:pt x="0" y="290305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1592664" y="1606629"/>
            <a:ext cx="8853266" cy="1410880"/>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5W2H</a:t>
            </a:r>
          </a:p>
        </p:txBody>
      </p:sp>
      <p:sp>
        <p:nvSpPr>
          <p:cNvPr name="TextBox 7" id="7"/>
          <p:cNvSpPr txBox="true"/>
          <p:nvPr/>
        </p:nvSpPr>
        <p:spPr>
          <a:xfrm rot="0">
            <a:off x="1340011" y="3430850"/>
            <a:ext cx="6804737" cy="830961"/>
          </a:xfrm>
          <a:prstGeom prst="rect">
            <a:avLst/>
          </a:prstGeom>
        </p:spPr>
        <p:txBody>
          <a:bodyPr anchor="t" rtlCol="false" tIns="0" lIns="0" bIns="0" rIns="0">
            <a:spAutoFit/>
          </a:bodyPr>
          <a:lstStyle/>
          <a:p>
            <a:pPr algn="just">
              <a:lnSpc>
                <a:spcPts val="3402"/>
              </a:lnSpc>
            </a:pPr>
            <a:r>
              <a:rPr lang="en-US" sz="2100">
                <a:solidFill>
                  <a:srgbClr val="1C0140"/>
                </a:solidFill>
                <a:latin typeface="Proxima Nova"/>
                <a:ea typeface="Proxima Nova"/>
                <a:cs typeface="Proxima Nova"/>
                <a:sym typeface="Proxima Nova"/>
              </a:rPr>
              <a:t>What                   API de validação de estágios</a:t>
            </a:r>
          </a:p>
          <a:p>
            <a:pPr algn="just">
              <a:lnSpc>
                <a:spcPts val="3402"/>
              </a:lnSpc>
            </a:pPr>
          </a:p>
        </p:txBody>
      </p:sp>
      <p:sp>
        <p:nvSpPr>
          <p:cNvPr name="Freeform 8" id="8"/>
          <p:cNvSpPr/>
          <p:nvPr/>
        </p:nvSpPr>
        <p:spPr>
          <a:xfrm flipH="true" flipV="false" rot="0">
            <a:off x="10768821" y="789751"/>
            <a:ext cx="2430360" cy="3454000"/>
          </a:xfrm>
          <a:custGeom>
            <a:avLst/>
            <a:gdLst/>
            <a:ahLst/>
            <a:cxnLst/>
            <a:rect r="r" b="b" t="t" l="l"/>
            <a:pathLst>
              <a:path h="3454000" w="2430360">
                <a:moveTo>
                  <a:pt x="2430359" y="0"/>
                </a:moveTo>
                <a:lnTo>
                  <a:pt x="0" y="0"/>
                </a:lnTo>
                <a:lnTo>
                  <a:pt x="0" y="3454000"/>
                </a:lnTo>
                <a:lnTo>
                  <a:pt x="2430359" y="3454000"/>
                </a:lnTo>
                <a:lnTo>
                  <a:pt x="2430359"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true" flipV="false" rot="0">
            <a:off x="13199180" y="7200900"/>
            <a:ext cx="6357135" cy="4114800"/>
          </a:xfrm>
          <a:custGeom>
            <a:avLst/>
            <a:gdLst/>
            <a:ahLst/>
            <a:cxnLst/>
            <a:rect r="r" b="b" t="t" l="l"/>
            <a:pathLst>
              <a:path h="4114800" w="6357135">
                <a:moveTo>
                  <a:pt x="6357135" y="0"/>
                </a:moveTo>
                <a:lnTo>
                  <a:pt x="0" y="0"/>
                </a:lnTo>
                <a:lnTo>
                  <a:pt x="0" y="4114800"/>
                </a:lnTo>
                <a:lnTo>
                  <a:pt x="6357135" y="4114800"/>
                </a:lnTo>
                <a:lnTo>
                  <a:pt x="6357135"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0" id="10"/>
          <p:cNvSpPr txBox="true"/>
          <p:nvPr/>
        </p:nvSpPr>
        <p:spPr>
          <a:xfrm rot="0">
            <a:off x="1379744" y="7882747"/>
            <a:ext cx="6804737" cy="830961"/>
          </a:xfrm>
          <a:prstGeom prst="rect">
            <a:avLst/>
          </a:prstGeom>
        </p:spPr>
        <p:txBody>
          <a:bodyPr anchor="t" rtlCol="false" tIns="0" lIns="0" bIns="0" rIns="0">
            <a:spAutoFit/>
          </a:bodyPr>
          <a:lstStyle/>
          <a:p>
            <a:pPr algn="just">
              <a:lnSpc>
                <a:spcPts val="3402"/>
              </a:lnSpc>
            </a:pPr>
            <a:r>
              <a:rPr lang="en-US" sz="2100">
                <a:solidFill>
                  <a:srgbClr val="1C0140"/>
                </a:solidFill>
                <a:latin typeface="Proxima Nova"/>
                <a:ea typeface="Proxima Nova"/>
                <a:cs typeface="Proxima Nova"/>
                <a:sym typeface="Proxima Nova"/>
              </a:rPr>
              <a:t>How Much           Sem custo</a:t>
            </a:r>
          </a:p>
          <a:p>
            <a:pPr algn="just">
              <a:lnSpc>
                <a:spcPts val="3402"/>
              </a:lnSpc>
            </a:pPr>
          </a:p>
        </p:txBody>
      </p:sp>
      <p:sp>
        <p:nvSpPr>
          <p:cNvPr name="TextBox 11" id="11"/>
          <p:cNvSpPr txBox="true"/>
          <p:nvPr/>
        </p:nvSpPr>
        <p:spPr>
          <a:xfrm rot="0">
            <a:off x="1379744" y="4158026"/>
            <a:ext cx="6725272" cy="798488"/>
          </a:xfrm>
          <a:prstGeom prst="rect">
            <a:avLst/>
          </a:prstGeom>
        </p:spPr>
        <p:txBody>
          <a:bodyPr anchor="t" rtlCol="false" tIns="0" lIns="0" bIns="0" rIns="0">
            <a:spAutoFit/>
          </a:bodyPr>
          <a:lstStyle/>
          <a:p>
            <a:pPr algn="just">
              <a:lnSpc>
                <a:spcPts val="3228"/>
              </a:lnSpc>
            </a:pPr>
            <a:r>
              <a:rPr lang="en-US" sz="1992">
                <a:solidFill>
                  <a:srgbClr val="1C0140"/>
                </a:solidFill>
                <a:latin typeface="Proxima Nova"/>
                <a:ea typeface="Proxima Nova"/>
                <a:cs typeface="Proxima Nova"/>
                <a:sym typeface="Proxima Nova"/>
              </a:rPr>
              <a:t>Why                    Automatizar e reduzir erros</a:t>
            </a:r>
          </a:p>
          <a:p>
            <a:pPr algn="just">
              <a:lnSpc>
                <a:spcPts val="3228"/>
              </a:lnSpc>
            </a:pPr>
          </a:p>
        </p:txBody>
      </p:sp>
      <p:sp>
        <p:nvSpPr>
          <p:cNvPr name="TextBox 12" id="12"/>
          <p:cNvSpPr txBox="true"/>
          <p:nvPr/>
        </p:nvSpPr>
        <p:spPr>
          <a:xfrm rot="0">
            <a:off x="1379744" y="6369939"/>
            <a:ext cx="6804737" cy="830961"/>
          </a:xfrm>
          <a:prstGeom prst="rect">
            <a:avLst/>
          </a:prstGeom>
        </p:spPr>
        <p:txBody>
          <a:bodyPr anchor="t" rtlCol="false" tIns="0" lIns="0" bIns="0" rIns="0">
            <a:spAutoFit/>
          </a:bodyPr>
          <a:lstStyle/>
          <a:p>
            <a:pPr algn="just">
              <a:lnSpc>
                <a:spcPts val="3402"/>
              </a:lnSpc>
            </a:pPr>
            <a:r>
              <a:rPr lang="en-US" sz="2100">
                <a:solidFill>
                  <a:srgbClr val="1C0140"/>
                </a:solidFill>
                <a:latin typeface="Proxima Nova"/>
                <a:ea typeface="Proxima Nova"/>
                <a:cs typeface="Proxima Nova"/>
                <a:sym typeface="Proxima Nova"/>
              </a:rPr>
              <a:t>When                   2026</a:t>
            </a:r>
          </a:p>
          <a:p>
            <a:pPr algn="just">
              <a:lnSpc>
                <a:spcPts val="3402"/>
              </a:lnSpc>
            </a:pPr>
          </a:p>
        </p:txBody>
      </p:sp>
      <p:sp>
        <p:nvSpPr>
          <p:cNvPr name="TextBox 13" id="13"/>
          <p:cNvSpPr txBox="true"/>
          <p:nvPr/>
        </p:nvSpPr>
        <p:spPr>
          <a:xfrm rot="0">
            <a:off x="1379744" y="4954190"/>
            <a:ext cx="6804737" cy="402336"/>
          </a:xfrm>
          <a:prstGeom prst="rect">
            <a:avLst/>
          </a:prstGeom>
        </p:spPr>
        <p:txBody>
          <a:bodyPr anchor="t" rtlCol="false" tIns="0" lIns="0" bIns="0" rIns="0">
            <a:spAutoFit/>
          </a:bodyPr>
          <a:lstStyle/>
          <a:p>
            <a:pPr algn="just">
              <a:lnSpc>
                <a:spcPts val="3402"/>
              </a:lnSpc>
            </a:pPr>
            <a:r>
              <a:rPr lang="en-US" sz="2100">
                <a:solidFill>
                  <a:srgbClr val="1C0140"/>
                </a:solidFill>
                <a:latin typeface="Proxima Nova"/>
                <a:ea typeface="Proxima Nova"/>
                <a:cs typeface="Proxima Nova"/>
                <a:sym typeface="Proxima Nova"/>
              </a:rPr>
              <a:t>Who                    Equipe do projeto</a:t>
            </a:r>
          </a:p>
        </p:txBody>
      </p:sp>
      <p:sp>
        <p:nvSpPr>
          <p:cNvPr name="TextBox 14" id="14"/>
          <p:cNvSpPr txBox="true"/>
          <p:nvPr/>
        </p:nvSpPr>
        <p:spPr>
          <a:xfrm rot="0">
            <a:off x="1379744" y="7051786"/>
            <a:ext cx="6804737" cy="830961"/>
          </a:xfrm>
          <a:prstGeom prst="rect">
            <a:avLst/>
          </a:prstGeom>
        </p:spPr>
        <p:txBody>
          <a:bodyPr anchor="t" rtlCol="false" tIns="0" lIns="0" bIns="0" rIns="0">
            <a:spAutoFit/>
          </a:bodyPr>
          <a:lstStyle/>
          <a:p>
            <a:pPr algn="just">
              <a:lnSpc>
                <a:spcPts val="3402"/>
              </a:lnSpc>
            </a:pPr>
            <a:r>
              <a:rPr lang="en-US" sz="2100">
                <a:solidFill>
                  <a:srgbClr val="1C0140"/>
                </a:solidFill>
                <a:latin typeface="Proxima Nova"/>
                <a:ea typeface="Proxima Nova"/>
                <a:cs typeface="Proxima Nova"/>
                <a:sym typeface="Proxima Nova"/>
              </a:rPr>
              <a:t>How                     </a:t>
            </a:r>
            <a:r>
              <a:rPr lang="en-US" sz="2100">
                <a:solidFill>
                  <a:srgbClr val="1C0140"/>
                </a:solidFill>
                <a:latin typeface="Proxima Nova"/>
                <a:ea typeface="Proxima Nova"/>
                <a:cs typeface="Proxima Nova"/>
                <a:sym typeface="Proxima Nova"/>
              </a:rPr>
              <a:t>Dj</a:t>
            </a:r>
            <a:r>
              <a:rPr lang="en-US" sz="2100">
                <a:solidFill>
                  <a:srgbClr val="1C0140"/>
                </a:solidFill>
                <a:latin typeface="Proxima Nova"/>
                <a:ea typeface="Proxima Nova"/>
                <a:cs typeface="Proxima Nova"/>
                <a:sym typeface="Proxima Nova"/>
              </a:rPr>
              <a:t>ango/Python</a:t>
            </a:r>
          </a:p>
          <a:p>
            <a:pPr algn="just">
              <a:lnSpc>
                <a:spcPts val="3402"/>
              </a:lnSpc>
            </a:pPr>
          </a:p>
        </p:txBody>
      </p:sp>
      <p:sp>
        <p:nvSpPr>
          <p:cNvPr name="TextBox 15" id="15"/>
          <p:cNvSpPr txBox="true"/>
          <p:nvPr/>
        </p:nvSpPr>
        <p:spPr>
          <a:xfrm rot="0">
            <a:off x="1379744" y="5624703"/>
            <a:ext cx="6804737" cy="830961"/>
          </a:xfrm>
          <a:prstGeom prst="rect">
            <a:avLst/>
          </a:prstGeom>
        </p:spPr>
        <p:txBody>
          <a:bodyPr anchor="t" rtlCol="false" tIns="0" lIns="0" bIns="0" rIns="0">
            <a:spAutoFit/>
          </a:bodyPr>
          <a:lstStyle/>
          <a:p>
            <a:pPr algn="just">
              <a:lnSpc>
                <a:spcPts val="3402"/>
              </a:lnSpc>
            </a:pPr>
            <a:r>
              <a:rPr lang="en-US" sz="2100">
                <a:solidFill>
                  <a:srgbClr val="1C0140"/>
                </a:solidFill>
                <a:latin typeface="Proxima Nova"/>
                <a:ea typeface="Proxima Nova"/>
                <a:cs typeface="Proxima Nova"/>
                <a:sym typeface="Proxima Nova"/>
              </a:rPr>
              <a:t>Where                 GitHub</a:t>
            </a:r>
          </a:p>
          <a:p>
            <a:pPr algn="just">
              <a:lnSpc>
                <a:spcPts val="3402"/>
              </a:lnSpc>
            </a:pPr>
          </a:p>
        </p:txBody>
      </p:sp>
      <p:sp>
        <p:nvSpPr>
          <p:cNvPr name="AutoShape 16" id="16"/>
          <p:cNvSpPr/>
          <p:nvPr/>
        </p:nvSpPr>
        <p:spPr>
          <a:xfrm>
            <a:off x="1379744" y="4072791"/>
            <a:ext cx="6492240" cy="0"/>
          </a:xfrm>
          <a:prstGeom prst="line">
            <a:avLst/>
          </a:prstGeom>
          <a:ln cap="flat" w="38100">
            <a:solidFill>
              <a:srgbClr val="000000"/>
            </a:solidFill>
            <a:prstDash val="solid"/>
            <a:headEnd type="none" len="sm" w="sm"/>
            <a:tailEnd type="none" len="sm" w="sm"/>
          </a:ln>
        </p:spPr>
      </p:sp>
      <p:sp>
        <p:nvSpPr>
          <p:cNvPr name="AutoShape 17" id="17"/>
          <p:cNvSpPr/>
          <p:nvPr/>
        </p:nvSpPr>
        <p:spPr>
          <a:xfrm>
            <a:off x="1379744" y="4779927"/>
            <a:ext cx="6492240" cy="0"/>
          </a:xfrm>
          <a:prstGeom prst="line">
            <a:avLst/>
          </a:prstGeom>
          <a:ln cap="flat" w="38100">
            <a:solidFill>
              <a:srgbClr val="000000"/>
            </a:solidFill>
            <a:prstDash val="solid"/>
            <a:headEnd type="none" len="sm" w="sm"/>
            <a:tailEnd type="none" len="sm" w="sm"/>
          </a:ln>
        </p:spPr>
      </p:sp>
      <p:sp>
        <p:nvSpPr>
          <p:cNvPr name="AutoShape 18" id="18"/>
          <p:cNvSpPr/>
          <p:nvPr/>
        </p:nvSpPr>
        <p:spPr>
          <a:xfrm>
            <a:off x="1379744" y="5541927"/>
            <a:ext cx="6492240" cy="0"/>
          </a:xfrm>
          <a:prstGeom prst="line">
            <a:avLst/>
          </a:prstGeom>
          <a:ln cap="flat" w="38100">
            <a:solidFill>
              <a:srgbClr val="000000"/>
            </a:solidFill>
            <a:prstDash val="solid"/>
            <a:headEnd type="none" len="sm" w="sm"/>
            <a:tailEnd type="none" len="sm" w="sm"/>
          </a:ln>
        </p:spPr>
      </p:sp>
      <p:sp>
        <p:nvSpPr>
          <p:cNvPr name="AutoShape 19" id="19"/>
          <p:cNvSpPr/>
          <p:nvPr/>
        </p:nvSpPr>
        <p:spPr>
          <a:xfrm>
            <a:off x="1379744" y="6306213"/>
            <a:ext cx="6492240" cy="0"/>
          </a:xfrm>
          <a:prstGeom prst="line">
            <a:avLst/>
          </a:prstGeom>
          <a:ln cap="flat" w="38100">
            <a:solidFill>
              <a:srgbClr val="000000"/>
            </a:solidFill>
            <a:prstDash val="solid"/>
            <a:headEnd type="none" len="sm" w="sm"/>
            <a:tailEnd type="none" len="sm" w="sm"/>
          </a:ln>
        </p:spPr>
      </p:sp>
      <p:sp>
        <p:nvSpPr>
          <p:cNvPr name="AutoShape 20" id="20"/>
          <p:cNvSpPr/>
          <p:nvPr/>
        </p:nvSpPr>
        <p:spPr>
          <a:xfrm>
            <a:off x="1379744" y="6934863"/>
            <a:ext cx="6492240" cy="0"/>
          </a:xfrm>
          <a:prstGeom prst="line">
            <a:avLst/>
          </a:prstGeom>
          <a:ln cap="flat" w="38100">
            <a:solidFill>
              <a:srgbClr val="000000"/>
            </a:solidFill>
            <a:prstDash val="solid"/>
            <a:headEnd type="none" len="sm" w="sm"/>
            <a:tailEnd type="none" len="sm" w="sm"/>
          </a:ln>
        </p:spPr>
      </p:sp>
      <p:sp>
        <p:nvSpPr>
          <p:cNvPr name="AutoShape 21" id="21"/>
          <p:cNvSpPr/>
          <p:nvPr/>
        </p:nvSpPr>
        <p:spPr>
          <a:xfrm>
            <a:off x="1379744" y="7661049"/>
            <a:ext cx="6492240"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1006013" y="3784380"/>
            <a:ext cx="6503276" cy="4114800"/>
          </a:xfrm>
          <a:custGeom>
            <a:avLst/>
            <a:gdLst/>
            <a:ahLst/>
            <a:cxnLst/>
            <a:rect r="r" b="b" t="t" l="l"/>
            <a:pathLst>
              <a:path h="4114800" w="6503276">
                <a:moveTo>
                  <a:pt x="0" y="0"/>
                </a:moveTo>
                <a:lnTo>
                  <a:pt x="6503276" y="0"/>
                </a:lnTo>
                <a:lnTo>
                  <a:pt x="650327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59532" y="275254"/>
            <a:ext cx="2814723" cy="4539876"/>
          </a:xfrm>
          <a:custGeom>
            <a:avLst/>
            <a:gdLst/>
            <a:ahLst/>
            <a:cxnLst/>
            <a:rect r="r" b="b" t="t" l="l"/>
            <a:pathLst>
              <a:path h="4539876" w="2814723">
                <a:moveTo>
                  <a:pt x="0" y="0"/>
                </a:moveTo>
                <a:lnTo>
                  <a:pt x="2814723" y="0"/>
                </a:lnTo>
                <a:lnTo>
                  <a:pt x="2814723" y="4539876"/>
                </a:lnTo>
                <a:lnTo>
                  <a:pt x="0" y="45398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38274" y="7146033"/>
            <a:ext cx="4510398" cy="2903056"/>
          </a:xfrm>
          <a:custGeom>
            <a:avLst/>
            <a:gdLst/>
            <a:ahLst/>
            <a:cxnLst/>
            <a:rect r="r" b="b" t="t" l="l"/>
            <a:pathLst>
              <a:path h="2903056" w="4510398">
                <a:moveTo>
                  <a:pt x="0" y="0"/>
                </a:moveTo>
                <a:lnTo>
                  <a:pt x="4510398" y="0"/>
                </a:lnTo>
                <a:lnTo>
                  <a:pt x="4510398" y="2903056"/>
                </a:lnTo>
                <a:lnTo>
                  <a:pt x="0" y="29030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3824110" y="7711128"/>
            <a:ext cx="1900289" cy="4114800"/>
          </a:xfrm>
          <a:custGeom>
            <a:avLst/>
            <a:gdLst/>
            <a:ahLst/>
            <a:cxnLst/>
            <a:rect r="r" b="b" t="t" l="l"/>
            <a:pathLst>
              <a:path h="4114800" w="1900289">
                <a:moveTo>
                  <a:pt x="0" y="0"/>
                </a:moveTo>
                <a:lnTo>
                  <a:pt x="1900290" y="0"/>
                </a:lnTo>
                <a:lnTo>
                  <a:pt x="190029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7319982" y="4414181"/>
            <a:ext cx="8430448" cy="4844119"/>
          </a:xfrm>
          <a:prstGeom prst="rect">
            <a:avLst/>
          </a:prstGeom>
        </p:spPr>
        <p:txBody>
          <a:bodyPr anchor="t" rtlCol="false" tIns="0" lIns="0" bIns="0" rIns="0">
            <a:spAutoFit/>
          </a:bodyPr>
          <a:lstStyle/>
          <a:p>
            <a:pPr algn="ctr">
              <a:lnSpc>
                <a:spcPts val="5471"/>
              </a:lnSpc>
            </a:pPr>
          </a:p>
          <a:p>
            <a:pPr algn="ctr" marL="690871" indent="-345435" lvl="1">
              <a:lnSpc>
                <a:spcPts val="5471"/>
              </a:lnSpc>
              <a:buFont typeface="Arial"/>
              <a:buChar char="•"/>
            </a:pPr>
            <a:r>
              <a:rPr lang="en-US" sz="3199">
                <a:solidFill>
                  <a:srgbClr val="1C0140"/>
                </a:solidFill>
                <a:latin typeface="Proxima Nova"/>
                <a:ea typeface="Proxima Nova"/>
                <a:cs typeface="Proxima Nova"/>
                <a:sym typeface="Proxima Nova"/>
              </a:rPr>
              <a:t>Validação automática de estágio</a:t>
            </a:r>
          </a:p>
          <a:p>
            <a:pPr algn="ctr" marL="690871" indent="-345435" lvl="1">
              <a:lnSpc>
                <a:spcPts val="5471"/>
              </a:lnSpc>
              <a:buFont typeface="Arial"/>
              <a:buChar char="•"/>
            </a:pPr>
            <a:r>
              <a:rPr lang="en-US" sz="3199">
                <a:solidFill>
                  <a:srgbClr val="1C0140"/>
                </a:solidFill>
                <a:latin typeface="Proxima Nova"/>
                <a:ea typeface="Proxima Nova"/>
                <a:cs typeface="Proxima Nova"/>
                <a:sym typeface="Proxima Nova"/>
              </a:rPr>
              <a:t>Uso de API</a:t>
            </a:r>
          </a:p>
          <a:p>
            <a:pPr algn="ctr" marL="690871" indent="-345435" lvl="1">
              <a:lnSpc>
                <a:spcPts val="5471"/>
              </a:lnSpc>
              <a:buFont typeface="Arial"/>
              <a:buChar char="•"/>
            </a:pPr>
            <a:r>
              <a:rPr lang="en-US" sz="3199">
                <a:solidFill>
                  <a:srgbClr val="1C0140"/>
                </a:solidFill>
                <a:latin typeface="Proxima Nova"/>
                <a:ea typeface="Proxima Nova"/>
                <a:cs typeface="Proxima Nova"/>
                <a:sym typeface="Proxima Nova"/>
              </a:rPr>
              <a:t>Regras por curso</a:t>
            </a:r>
          </a:p>
          <a:p>
            <a:pPr algn="ctr" marL="690871" indent="-345435" lvl="1">
              <a:lnSpc>
                <a:spcPts val="5471"/>
              </a:lnSpc>
              <a:buFont typeface="Arial"/>
              <a:buChar char="•"/>
            </a:pPr>
            <a:r>
              <a:rPr lang="en-US" sz="3199">
                <a:solidFill>
                  <a:srgbClr val="1C0140"/>
                </a:solidFill>
                <a:latin typeface="Proxima Nova"/>
                <a:ea typeface="Proxima Nova"/>
                <a:cs typeface="Proxima Nova"/>
                <a:sym typeface="Proxima Nova"/>
              </a:rPr>
              <a:t>Status: aprovado/reprovado</a:t>
            </a:r>
          </a:p>
          <a:p>
            <a:pPr algn="ctr" marL="690871" indent="-345435" lvl="1">
              <a:lnSpc>
                <a:spcPts val="5471"/>
              </a:lnSpc>
              <a:buFont typeface="Arial"/>
              <a:buChar char="•"/>
            </a:pPr>
            <a:r>
              <a:rPr lang="en-US" sz="3199">
                <a:solidFill>
                  <a:srgbClr val="1C0140"/>
                </a:solidFill>
                <a:latin typeface="Proxima Nova"/>
                <a:ea typeface="Proxima Nova"/>
                <a:cs typeface="Proxima Nova"/>
                <a:sym typeface="Proxima Nova"/>
              </a:rPr>
              <a:t>Histórico de validações</a:t>
            </a:r>
          </a:p>
          <a:p>
            <a:pPr algn="ctr">
              <a:lnSpc>
                <a:spcPts val="6326"/>
              </a:lnSpc>
            </a:pPr>
          </a:p>
        </p:txBody>
      </p:sp>
      <p:sp>
        <p:nvSpPr>
          <p:cNvPr name="TextBox 7" id="7"/>
          <p:cNvSpPr txBox="true"/>
          <p:nvPr/>
        </p:nvSpPr>
        <p:spPr>
          <a:xfrm rot="0">
            <a:off x="7319982" y="1984202"/>
            <a:ext cx="7333825" cy="1410880"/>
          </a:xfrm>
          <a:prstGeom prst="rect">
            <a:avLst/>
          </a:prstGeom>
        </p:spPr>
        <p:txBody>
          <a:bodyPr anchor="t" rtlCol="false" tIns="0" lIns="0" bIns="0" rIns="0">
            <a:spAutoFit/>
          </a:bodyPr>
          <a:lstStyle/>
          <a:p>
            <a:pPr algn="just">
              <a:lnSpc>
                <a:spcPts val="10131"/>
              </a:lnSpc>
            </a:pPr>
            <a:r>
              <a:rPr lang="en-US" b="true" sz="11513" spc="-725">
                <a:solidFill>
                  <a:srgbClr val="1C0140"/>
                </a:solidFill>
                <a:latin typeface="Proxima Nova Bold"/>
                <a:ea typeface="Proxima Nova Bold"/>
                <a:cs typeface="Proxima Nova Bold"/>
                <a:sym typeface="Proxima Nova Bold"/>
              </a:rPr>
              <a:t>Brainstorm</a:t>
            </a:r>
          </a:p>
        </p:txBody>
      </p:sp>
      <p:sp>
        <p:nvSpPr>
          <p:cNvPr name="TextBox 8" id="8"/>
          <p:cNvSpPr txBox="true"/>
          <p:nvPr/>
        </p:nvSpPr>
        <p:spPr>
          <a:xfrm rot="0">
            <a:off x="7319982" y="3979434"/>
            <a:ext cx="3164607" cy="587147"/>
          </a:xfrm>
          <a:prstGeom prst="rect">
            <a:avLst/>
          </a:prstGeom>
        </p:spPr>
        <p:txBody>
          <a:bodyPr anchor="t" rtlCol="false" tIns="0" lIns="0" bIns="0" rIns="0">
            <a:spAutoFit/>
          </a:bodyPr>
          <a:lstStyle/>
          <a:p>
            <a:pPr algn="ctr">
              <a:lnSpc>
                <a:spcPts val="5021"/>
              </a:lnSpc>
              <a:spcBef>
                <a:spcPct val="0"/>
              </a:spcBef>
            </a:pPr>
            <a:r>
              <a:rPr lang="en-US" sz="3099" i="true">
                <a:solidFill>
                  <a:srgbClr val="1C0140"/>
                </a:solidFill>
                <a:latin typeface="Proxima Nova Italics"/>
                <a:ea typeface="Proxima Nova Italics"/>
                <a:cs typeface="Proxima Nova Italics"/>
                <a:sym typeface="Proxima Nova Italics"/>
              </a:rPr>
              <a:t>Ideias Principais: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638262" y="7007372"/>
            <a:ext cx="4106217" cy="4571699"/>
          </a:xfrm>
          <a:custGeom>
            <a:avLst/>
            <a:gdLst/>
            <a:ahLst/>
            <a:cxnLst/>
            <a:rect r="r" b="b" t="t" l="l"/>
            <a:pathLst>
              <a:path h="4571699" w="4106217">
                <a:moveTo>
                  <a:pt x="0" y="0"/>
                </a:moveTo>
                <a:lnTo>
                  <a:pt x="4106217" y="0"/>
                </a:lnTo>
                <a:lnTo>
                  <a:pt x="4106217" y="4571699"/>
                </a:lnTo>
                <a:lnTo>
                  <a:pt x="0" y="45716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97562" y="4953747"/>
            <a:ext cx="3898412" cy="4571699"/>
          </a:xfrm>
          <a:custGeom>
            <a:avLst/>
            <a:gdLst/>
            <a:ahLst/>
            <a:cxnLst/>
            <a:rect r="r" b="b" t="t" l="l"/>
            <a:pathLst>
              <a:path h="4571699" w="3898412">
                <a:moveTo>
                  <a:pt x="0" y="0"/>
                </a:moveTo>
                <a:lnTo>
                  <a:pt x="3898412" y="0"/>
                </a:lnTo>
                <a:lnTo>
                  <a:pt x="3898412" y="4571698"/>
                </a:lnTo>
                <a:lnTo>
                  <a:pt x="0" y="45716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189746" y="571801"/>
            <a:ext cx="3341496" cy="4571699"/>
          </a:xfrm>
          <a:custGeom>
            <a:avLst/>
            <a:gdLst/>
            <a:ahLst/>
            <a:cxnLst/>
            <a:rect r="r" b="b" t="t" l="l"/>
            <a:pathLst>
              <a:path h="4571699" w="3341496">
                <a:moveTo>
                  <a:pt x="0" y="0"/>
                </a:moveTo>
                <a:lnTo>
                  <a:pt x="3341496" y="0"/>
                </a:lnTo>
                <a:lnTo>
                  <a:pt x="3341496" y="4571699"/>
                </a:lnTo>
                <a:lnTo>
                  <a:pt x="0" y="45716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163142" y="-1070014"/>
            <a:ext cx="2644244" cy="4516565"/>
          </a:xfrm>
          <a:custGeom>
            <a:avLst/>
            <a:gdLst/>
            <a:ahLst/>
            <a:cxnLst/>
            <a:rect r="r" b="b" t="t" l="l"/>
            <a:pathLst>
              <a:path h="4516565" w="2644244">
                <a:moveTo>
                  <a:pt x="0" y="0"/>
                </a:moveTo>
                <a:lnTo>
                  <a:pt x="2644244" y="0"/>
                </a:lnTo>
                <a:lnTo>
                  <a:pt x="2644244" y="4516565"/>
                </a:lnTo>
                <a:lnTo>
                  <a:pt x="0" y="45165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4618804" y="6647352"/>
            <a:ext cx="4100910" cy="2878093"/>
          </a:xfrm>
          <a:custGeom>
            <a:avLst/>
            <a:gdLst/>
            <a:ahLst/>
            <a:cxnLst/>
            <a:rect r="r" b="b" t="t" l="l"/>
            <a:pathLst>
              <a:path h="2878093" w="4100910">
                <a:moveTo>
                  <a:pt x="0" y="0"/>
                </a:moveTo>
                <a:lnTo>
                  <a:pt x="4100910" y="0"/>
                </a:lnTo>
                <a:lnTo>
                  <a:pt x="4100910" y="2878093"/>
                </a:lnTo>
                <a:lnTo>
                  <a:pt x="0" y="287809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851786" y="3106741"/>
            <a:ext cx="14584427" cy="4885783"/>
          </a:xfrm>
          <a:custGeom>
            <a:avLst/>
            <a:gdLst/>
            <a:ahLst/>
            <a:cxnLst/>
            <a:rect r="r" b="b" t="t" l="l"/>
            <a:pathLst>
              <a:path h="4885783" w="14584427">
                <a:moveTo>
                  <a:pt x="0" y="0"/>
                </a:moveTo>
                <a:lnTo>
                  <a:pt x="14584428" y="0"/>
                </a:lnTo>
                <a:lnTo>
                  <a:pt x="14584428" y="4885783"/>
                </a:lnTo>
                <a:lnTo>
                  <a:pt x="0" y="4885783"/>
                </a:lnTo>
                <a:lnTo>
                  <a:pt x="0" y="0"/>
                </a:lnTo>
                <a:close/>
              </a:path>
            </a:pathLst>
          </a:custGeom>
          <a:blipFill>
            <a:blip r:embed="rId12"/>
            <a:stretch>
              <a:fillRect l="0" t="0" r="0" b="0"/>
            </a:stretch>
          </a:blipFill>
        </p:spPr>
      </p:sp>
      <p:sp>
        <p:nvSpPr>
          <p:cNvPr name="TextBox 8" id="8"/>
          <p:cNvSpPr txBox="true"/>
          <p:nvPr/>
        </p:nvSpPr>
        <p:spPr>
          <a:xfrm rot="0">
            <a:off x="1716010" y="1373663"/>
            <a:ext cx="7624071" cy="1409228"/>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Mapa Mental</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13978959" y="2266013"/>
            <a:ext cx="2870338" cy="4902751"/>
          </a:xfrm>
          <a:custGeom>
            <a:avLst/>
            <a:gdLst/>
            <a:ahLst/>
            <a:cxnLst/>
            <a:rect r="r" b="b" t="t" l="l"/>
            <a:pathLst>
              <a:path h="4902751" w="2870338">
                <a:moveTo>
                  <a:pt x="0" y="0"/>
                </a:moveTo>
                <a:lnTo>
                  <a:pt x="2870338" y="0"/>
                </a:lnTo>
                <a:lnTo>
                  <a:pt x="2870338" y="4902751"/>
                </a:lnTo>
                <a:lnTo>
                  <a:pt x="0" y="49027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123082" y="7168764"/>
            <a:ext cx="5511729" cy="3868232"/>
          </a:xfrm>
          <a:custGeom>
            <a:avLst/>
            <a:gdLst/>
            <a:ahLst/>
            <a:cxnLst/>
            <a:rect r="r" b="b" t="t" l="l"/>
            <a:pathLst>
              <a:path h="3868232" w="5511729">
                <a:moveTo>
                  <a:pt x="0" y="0"/>
                </a:moveTo>
                <a:lnTo>
                  <a:pt x="5511729" y="0"/>
                </a:lnTo>
                <a:lnTo>
                  <a:pt x="5511729" y="3868232"/>
                </a:lnTo>
                <a:lnTo>
                  <a:pt x="0" y="38682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553544" y="3761637"/>
            <a:ext cx="3841974" cy="4902751"/>
          </a:xfrm>
          <a:custGeom>
            <a:avLst/>
            <a:gdLst/>
            <a:ahLst/>
            <a:cxnLst/>
            <a:rect r="r" b="b" t="t" l="l"/>
            <a:pathLst>
              <a:path h="4902751" w="3841974">
                <a:moveTo>
                  <a:pt x="0" y="0"/>
                </a:moveTo>
                <a:lnTo>
                  <a:pt x="3841974" y="0"/>
                </a:lnTo>
                <a:lnTo>
                  <a:pt x="3841974" y="4902751"/>
                </a:lnTo>
                <a:lnTo>
                  <a:pt x="0" y="49027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59222" y="-1147359"/>
            <a:ext cx="7574475" cy="4902751"/>
          </a:xfrm>
          <a:custGeom>
            <a:avLst/>
            <a:gdLst/>
            <a:ahLst/>
            <a:cxnLst/>
            <a:rect r="r" b="b" t="t" l="l"/>
            <a:pathLst>
              <a:path h="4902751" w="7574475">
                <a:moveTo>
                  <a:pt x="0" y="0"/>
                </a:moveTo>
                <a:lnTo>
                  <a:pt x="7574475" y="0"/>
                </a:lnTo>
                <a:lnTo>
                  <a:pt x="7574475" y="4902751"/>
                </a:lnTo>
                <a:lnTo>
                  <a:pt x="0" y="490275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524121" y="6117114"/>
            <a:ext cx="3898412" cy="4571699"/>
          </a:xfrm>
          <a:custGeom>
            <a:avLst/>
            <a:gdLst/>
            <a:ahLst/>
            <a:cxnLst/>
            <a:rect r="r" b="b" t="t" l="l"/>
            <a:pathLst>
              <a:path h="4571699" w="3898412">
                <a:moveTo>
                  <a:pt x="0" y="0"/>
                </a:moveTo>
                <a:lnTo>
                  <a:pt x="3898413" y="0"/>
                </a:lnTo>
                <a:lnTo>
                  <a:pt x="3898413" y="4571699"/>
                </a:lnTo>
                <a:lnTo>
                  <a:pt x="0" y="457169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11268209" y="342900"/>
            <a:ext cx="5421501" cy="1409228"/>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Protótipo</a:t>
            </a:r>
          </a:p>
        </p:txBody>
      </p:sp>
      <p:sp>
        <p:nvSpPr>
          <p:cNvPr name="TextBox 8" id="8"/>
          <p:cNvSpPr txBox="true"/>
          <p:nvPr/>
        </p:nvSpPr>
        <p:spPr>
          <a:xfrm rot="0">
            <a:off x="11825050" y="1366944"/>
            <a:ext cx="4053896" cy="537820"/>
          </a:xfrm>
          <a:prstGeom prst="rect">
            <a:avLst/>
          </a:prstGeom>
        </p:spPr>
        <p:txBody>
          <a:bodyPr anchor="t" rtlCol="false" tIns="0" lIns="0" bIns="0" rIns="0">
            <a:spAutoFit/>
          </a:bodyPr>
          <a:lstStyle/>
          <a:p>
            <a:pPr algn="ctr">
              <a:lnSpc>
                <a:spcPts val="4480"/>
              </a:lnSpc>
              <a:spcBef>
                <a:spcPct val="0"/>
              </a:spcBef>
            </a:pPr>
            <a:r>
              <a:rPr lang="en-US" b="true" sz="3200" spc="-201">
                <a:solidFill>
                  <a:srgbClr val="1C0140"/>
                </a:solidFill>
                <a:latin typeface="Proxima Nova Bold"/>
                <a:ea typeface="Proxima Nova Bold"/>
                <a:cs typeface="Proxima Nova Bold"/>
                <a:sym typeface="Proxima Nova Bold"/>
              </a:rPr>
              <a:t>baixa fidelidade</a:t>
            </a:r>
          </a:p>
        </p:txBody>
      </p:sp>
      <p:grpSp>
        <p:nvGrpSpPr>
          <p:cNvPr name="Group 9" id="9"/>
          <p:cNvGrpSpPr/>
          <p:nvPr/>
        </p:nvGrpSpPr>
        <p:grpSpPr>
          <a:xfrm rot="0">
            <a:off x="1425086" y="2148005"/>
            <a:ext cx="15226151" cy="7418371"/>
            <a:chOff x="0" y="0"/>
            <a:chExt cx="4234901" cy="2063297"/>
          </a:xfrm>
        </p:grpSpPr>
        <p:sp>
          <p:nvSpPr>
            <p:cNvPr name="Freeform 10" id="10"/>
            <p:cNvSpPr/>
            <p:nvPr/>
          </p:nvSpPr>
          <p:spPr>
            <a:xfrm flipH="false" flipV="false" rot="0">
              <a:off x="0" y="0"/>
              <a:ext cx="4234901" cy="2063297"/>
            </a:xfrm>
            <a:custGeom>
              <a:avLst/>
              <a:gdLst/>
              <a:ahLst/>
              <a:cxnLst/>
              <a:rect r="r" b="b" t="t" l="l"/>
              <a:pathLst>
                <a:path h="2063297" w="4234901">
                  <a:moveTo>
                    <a:pt x="0" y="0"/>
                  </a:moveTo>
                  <a:lnTo>
                    <a:pt x="4234901" y="0"/>
                  </a:lnTo>
                  <a:lnTo>
                    <a:pt x="4234901" y="2063297"/>
                  </a:lnTo>
                  <a:lnTo>
                    <a:pt x="0" y="2063297"/>
                  </a:lnTo>
                  <a:close/>
                </a:path>
              </a:pathLst>
            </a:custGeom>
            <a:solidFill>
              <a:srgbClr val="5284FF">
                <a:alpha val="89804"/>
              </a:srgbClr>
            </a:solidFill>
          </p:spPr>
        </p:sp>
        <p:sp>
          <p:nvSpPr>
            <p:cNvPr name="TextBox 11" id="11"/>
            <p:cNvSpPr txBox="true"/>
            <p:nvPr/>
          </p:nvSpPr>
          <p:spPr>
            <a:xfrm>
              <a:off x="0" y="-38100"/>
              <a:ext cx="4234901" cy="2101397"/>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5778547" y="6450758"/>
            <a:ext cx="6519228" cy="2362039"/>
          </a:xfrm>
          <a:custGeom>
            <a:avLst/>
            <a:gdLst/>
            <a:ahLst/>
            <a:cxnLst/>
            <a:rect r="r" b="b" t="t" l="l"/>
            <a:pathLst>
              <a:path h="2362039" w="6519228">
                <a:moveTo>
                  <a:pt x="0" y="0"/>
                </a:moveTo>
                <a:lnTo>
                  <a:pt x="6519228" y="0"/>
                </a:lnTo>
                <a:lnTo>
                  <a:pt x="6519228" y="2362040"/>
                </a:lnTo>
                <a:lnTo>
                  <a:pt x="0" y="2362040"/>
                </a:lnTo>
                <a:lnTo>
                  <a:pt x="0" y="0"/>
                </a:lnTo>
                <a:close/>
              </a:path>
            </a:pathLst>
          </a:custGeom>
          <a:blipFill>
            <a:blip r:embed="rId12"/>
            <a:stretch>
              <a:fillRect l="0" t="0" r="0" b="0"/>
            </a:stretch>
          </a:blipFill>
        </p:spPr>
      </p:sp>
      <p:sp>
        <p:nvSpPr>
          <p:cNvPr name="Freeform 13" id="13"/>
          <p:cNvSpPr/>
          <p:nvPr/>
        </p:nvSpPr>
        <p:spPr>
          <a:xfrm flipH="false" flipV="false" rot="0">
            <a:off x="2808338" y="3054919"/>
            <a:ext cx="4606915" cy="2155282"/>
          </a:xfrm>
          <a:custGeom>
            <a:avLst/>
            <a:gdLst/>
            <a:ahLst/>
            <a:cxnLst/>
            <a:rect r="r" b="b" t="t" l="l"/>
            <a:pathLst>
              <a:path h="2155282" w="4606915">
                <a:moveTo>
                  <a:pt x="0" y="0"/>
                </a:moveTo>
                <a:lnTo>
                  <a:pt x="4606915" y="0"/>
                </a:lnTo>
                <a:lnTo>
                  <a:pt x="4606915" y="2155281"/>
                </a:lnTo>
                <a:lnTo>
                  <a:pt x="0" y="2155281"/>
                </a:lnTo>
                <a:lnTo>
                  <a:pt x="0" y="0"/>
                </a:lnTo>
                <a:close/>
              </a:path>
            </a:pathLst>
          </a:custGeom>
          <a:blipFill>
            <a:blip r:embed="rId13"/>
            <a:stretch>
              <a:fillRect l="0" t="0" r="0" b="0"/>
            </a:stretch>
          </a:blipFill>
        </p:spPr>
      </p:sp>
      <p:sp>
        <p:nvSpPr>
          <p:cNvPr name="Freeform 14" id="14"/>
          <p:cNvSpPr/>
          <p:nvPr/>
        </p:nvSpPr>
        <p:spPr>
          <a:xfrm flipH="false" flipV="false" rot="0">
            <a:off x="10551932" y="3134480"/>
            <a:ext cx="4862196" cy="2329802"/>
          </a:xfrm>
          <a:custGeom>
            <a:avLst/>
            <a:gdLst/>
            <a:ahLst/>
            <a:cxnLst/>
            <a:rect r="r" b="b" t="t" l="l"/>
            <a:pathLst>
              <a:path h="2329802" w="4862196">
                <a:moveTo>
                  <a:pt x="0" y="0"/>
                </a:moveTo>
                <a:lnTo>
                  <a:pt x="4862196" y="0"/>
                </a:lnTo>
                <a:lnTo>
                  <a:pt x="4862196" y="2329803"/>
                </a:lnTo>
                <a:lnTo>
                  <a:pt x="0" y="2329803"/>
                </a:lnTo>
                <a:lnTo>
                  <a:pt x="0" y="0"/>
                </a:lnTo>
                <a:close/>
              </a:path>
            </a:pathLst>
          </a:custGeom>
          <a:blipFill>
            <a:blip r:embed="rId14"/>
            <a:stretch>
              <a:fillRect l="0" t="0" r="0" b="0"/>
            </a:stretch>
          </a:blipFill>
        </p:spPr>
      </p:sp>
      <p:sp>
        <p:nvSpPr>
          <p:cNvPr name="TextBox 15" id="15"/>
          <p:cNvSpPr txBox="true"/>
          <p:nvPr/>
        </p:nvSpPr>
        <p:spPr>
          <a:xfrm rot="0">
            <a:off x="2832448" y="2517098"/>
            <a:ext cx="1083688" cy="537820"/>
          </a:xfrm>
          <a:prstGeom prst="rect">
            <a:avLst/>
          </a:prstGeom>
        </p:spPr>
        <p:txBody>
          <a:bodyPr anchor="t" rtlCol="false" tIns="0" lIns="0" bIns="0" rIns="0">
            <a:spAutoFit/>
          </a:bodyPr>
          <a:lstStyle/>
          <a:p>
            <a:pPr algn="ctr">
              <a:lnSpc>
                <a:spcPts val="4480"/>
              </a:lnSpc>
              <a:spcBef>
                <a:spcPct val="0"/>
              </a:spcBef>
            </a:pPr>
            <a:r>
              <a:rPr lang="en-US" b="true" sz="3200" i="true" spc="-201">
                <a:solidFill>
                  <a:srgbClr val="F0F7FE"/>
                </a:solidFill>
                <a:latin typeface="Proxima Nova Bold Italics"/>
                <a:ea typeface="Proxima Nova Bold Italics"/>
                <a:cs typeface="Proxima Nova Bold Italics"/>
                <a:sym typeface="Proxima Nova Bold Italics"/>
              </a:rPr>
              <a:t>Login</a:t>
            </a:r>
          </a:p>
        </p:txBody>
      </p:sp>
      <p:sp>
        <p:nvSpPr>
          <p:cNvPr name="TextBox 16" id="16"/>
          <p:cNvSpPr txBox="true"/>
          <p:nvPr/>
        </p:nvSpPr>
        <p:spPr>
          <a:xfrm rot="0">
            <a:off x="10551932" y="2596660"/>
            <a:ext cx="2102180" cy="537820"/>
          </a:xfrm>
          <a:prstGeom prst="rect">
            <a:avLst/>
          </a:prstGeom>
        </p:spPr>
        <p:txBody>
          <a:bodyPr anchor="t" rtlCol="false" tIns="0" lIns="0" bIns="0" rIns="0">
            <a:spAutoFit/>
          </a:bodyPr>
          <a:lstStyle/>
          <a:p>
            <a:pPr algn="ctr">
              <a:lnSpc>
                <a:spcPts val="4480"/>
              </a:lnSpc>
              <a:spcBef>
                <a:spcPct val="0"/>
              </a:spcBef>
            </a:pPr>
            <a:r>
              <a:rPr lang="en-US" b="true" sz="3200" i="true" spc="-201">
                <a:solidFill>
                  <a:srgbClr val="F0F7FE"/>
                </a:solidFill>
                <a:latin typeface="Proxima Nova Bold Italics"/>
                <a:ea typeface="Proxima Nova Bold Italics"/>
                <a:cs typeface="Proxima Nova Bold Italics"/>
                <a:sym typeface="Proxima Nova Bold Italics"/>
              </a:rPr>
              <a:t>Candidatura</a:t>
            </a:r>
          </a:p>
        </p:txBody>
      </p:sp>
      <p:sp>
        <p:nvSpPr>
          <p:cNvPr name="TextBox 17" id="17"/>
          <p:cNvSpPr txBox="true"/>
          <p:nvPr/>
        </p:nvSpPr>
        <p:spPr>
          <a:xfrm rot="0">
            <a:off x="8496317" y="5915527"/>
            <a:ext cx="1083688" cy="537820"/>
          </a:xfrm>
          <a:prstGeom prst="rect">
            <a:avLst/>
          </a:prstGeom>
        </p:spPr>
        <p:txBody>
          <a:bodyPr anchor="t" rtlCol="false" tIns="0" lIns="0" bIns="0" rIns="0">
            <a:spAutoFit/>
          </a:bodyPr>
          <a:lstStyle/>
          <a:p>
            <a:pPr algn="ctr">
              <a:lnSpc>
                <a:spcPts val="4480"/>
              </a:lnSpc>
              <a:spcBef>
                <a:spcPct val="0"/>
              </a:spcBef>
            </a:pPr>
            <a:r>
              <a:rPr lang="en-US" b="true" sz="3200" i="true" spc="-201">
                <a:solidFill>
                  <a:srgbClr val="F0F7FE"/>
                </a:solidFill>
                <a:latin typeface="Proxima Nova Bold Italics"/>
                <a:ea typeface="Proxima Nova Bold Italics"/>
                <a:cs typeface="Proxima Nova Bold Italics"/>
                <a:sym typeface="Proxima Nova Bold Italics"/>
              </a:rPr>
              <a:t>Vagas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9169339" y="1713861"/>
            <a:ext cx="7333825" cy="1410880"/>
          </a:xfrm>
          <a:prstGeom prst="rect">
            <a:avLst/>
          </a:prstGeom>
        </p:spPr>
        <p:txBody>
          <a:bodyPr anchor="t" rtlCol="false" tIns="0" lIns="0" bIns="0" rIns="0">
            <a:spAutoFit/>
          </a:bodyPr>
          <a:lstStyle/>
          <a:p>
            <a:pPr algn="r">
              <a:lnSpc>
                <a:spcPts val="10131"/>
              </a:lnSpc>
            </a:pPr>
            <a:r>
              <a:rPr lang="en-US" b="true" sz="11513" spc="-725">
                <a:solidFill>
                  <a:srgbClr val="1C0140"/>
                </a:solidFill>
                <a:latin typeface="Proxima Nova Bold"/>
                <a:ea typeface="Proxima Nova Bold"/>
                <a:cs typeface="Proxima Nova Bold"/>
                <a:sym typeface="Proxima Nova Bold"/>
              </a:rPr>
              <a:t>Atores</a:t>
            </a:r>
          </a:p>
        </p:txBody>
      </p:sp>
      <p:grpSp>
        <p:nvGrpSpPr>
          <p:cNvPr name="Group 3" id="3"/>
          <p:cNvGrpSpPr/>
          <p:nvPr/>
        </p:nvGrpSpPr>
        <p:grpSpPr>
          <a:xfrm rot="0">
            <a:off x="1944774" y="4120019"/>
            <a:ext cx="3354861" cy="4483132"/>
            <a:chOff x="0" y="0"/>
            <a:chExt cx="933099" cy="1246909"/>
          </a:xfrm>
        </p:grpSpPr>
        <p:sp>
          <p:nvSpPr>
            <p:cNvPr name="Freeform 4" id="4"/>
            <p:cNvSpPr/>
            <p:nvPr/>
          </p:nvSpPr>
          <p:spPr>
            <a:xfrm flipH="false" flipV="false" rot="0">
              <a:off x="0" y="0"/>
              <a:ext cx="933099" cy="1246909"/>
            </a:xfrm>
            <a:custGeom>
              <a:avLst/>
              <a:gdLst/>
              <a:ahLst/>
              <a:cxnLst/>
              <a:rect r="r" b="b" t="t" l="l"/>
              <a:pathLst>
                <a:path h="1246909" w="933099">
                  <a:moveTo>
                    <a:pt x="0" y="0"/>
                  </a:moveTo>
                  <a:lnTo>
                    <a:pt x="933099" y="0"/>
                  </a:lnTo>
                  <a:lnTo>
                    <a:pt x="933099" y="1246909"/>
                  </a:lnTo>
                  <a:lnTo>
                    <a:pt x="0" y="1246909"/>
                  </a:lnTo>
                  <a:close/>
                </a:path>
              </a:pathLst>
            </a:custGeom>
            <a:solidFill>
              <a:srgbClr val="5284FF">
                <a:alpha val="89804"/>
              </a:srgbClr>
            </a:solidFill>
          </p:spPr>
        </p:sp>
        <p:sp>
          <p:nvSpPr>
            <p:cNvPr name="TextBox 5" id="5"/>
            <p:cNvSpPr txBox="true"/>
            <p:nvPr/>
          </p:nvSpPr>
          <p:spPr>
            <a:xfrm>
              <a:off x="0" y="-38100"/>
              <a:ext cx="933099" cy="1285009"/>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5680190" y="4120019"/>
            <a:ext cx="3354861" cy="4483132"/>
            <a:chOff x="0" y="0"/>
            <a:chExt cx="933099" cy="1246909"/>
          </a:xfrm>
        </p:grpSpPr>
        <p:sp>
          <p:nvSpPr>
            <p:cNvPr name="Freeform 7" id="7"/>
            <p:cNvSpPr/>
            <p:nvPr/>
          </p:nvSpPr>
          <p:spPr>
            <a:xfrm flipH="false" flipV="false" rot="0">
              <a:off x="0" y="0"/>
              <a:ext cx="933099" cy="1246909"/>
            </a:xfrm>
            <a:custGeom>
              <a:avLst/>
              <a:gdLst/>
              <a:ahLst/>
              <a:cxnLst/>
              <a:rect r="r" b="b" t="t" l="l"/>
              <a:pathLst>
                <a:path h="1246909" w="933099">
                  <a:moveTo>
                    <a:pt x="0" y="0"/>
                  </a:moveTo>
                  <a:lnTo>
                    <a:pt x="933099" y="0"/>
                  </a:lnTo>
                  <a:lnTo>
                    <a:pt x="933099" y="1246909"/>
                  </a:lnTo>
                  <a:lnTo>
                    <a:pt x="0" y="1246909"/>
                  </a:lnTo>
                  <a:close/>
                </a:path>
              </a:pathLst>
            </a:custGeom>
            <a:solidFill>
              <a:srgbClr val="5284FF">
                <a:alpha val="89804"/>
              </a:srgbClr>
            </a:solidFill>
          </p:spPr>
        </p:sp>
        <p:sp>
          <p:nvSpPr>
            <p:cNvPr name="TextBox 8" id="8"/>
            <p:cNvSpPr txBox="true"/>
            <p:nvPr/>
          </p:nvSpPr>
          <p:spPr>
            <a:xfrm>
              <a:off x="0" y="-38100"/>
              <a:ext cx="933099" cy="1285009"/>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412886" y="4120019"/>
            <a:ext cx="3354861" cy="4483132"/>
            <a:chOff x="0" y="0"/>
            <a:chExt cx="933099" cy="1246909"/>
          </a:xfrm>
        </p:grpSpPr>
        <p:sp>
          <p:nvSpPr>
            <p:cNvPr name="Freeform 10" id="10"/>
            <p:cNvSpPr/>
            <p:nvPr/>
          </p:nvSpPr>
          <p:spPr>
            <a:xfrm flipH="false" flipV="false" rot="0">
              <a:off x="0" y="0"/>
              <a:ext cx="933099" cy="1246909"/>
            </a:xfrm>
            <a:custGeom>
              <a:avLst/>
              <a:gdLst/>
              <a:ahLst/>
              <a:cxnLst/>
              <a:rect r="r" b="b" t="t" l="l"/>
              <a:pathLst>
                <a:path h="1246909" w="933099">
                  <a:moveTo>
                    <a:pt x="0" y="0"/>
                  </a:moveTo>
                  <a:lnTo>
                    <a:pt x="933099" y="0"/>
                  </a:lnTo>
                  <a:lnTo>
                    <a:pt x="933099" y="1246909"/>
                  </a:lnTo>
                  <a:lnTo>
                    <a:pt x="0" y="1246909"/>
                  </a:lnTo>
                  <a:close/>
                </a:path>
              </a:pathLst>
            </a:custGeom>
            <a:solidFill>
              <a:srgbClr val="5284FF">
                <a:alpha val="89804"/>
              </a:srgbClr>
            </a:solidFill>
          </p:spPr>
        </p:sp>
        <p:sp>
          <p:nvSpPr>
            <p:cNvPr name="TextBox 11" id="11"/>
            <p:cNvSpPr txBox="true"/>
            <p:nvPr/>
          </p:nvSpPr>
          <p:spPr>
            <a:xfrm>
              <a:off x="0" y="-38100"/>
              <a:ext cx="933099" cy="1285009"/>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3148303" y="4120019"/>
            <a:ext cx="3354861" cy="4483132"/>
            <a:chOff x="0" y="0"/>
            <a:chExt cx="933099" cy="1246909"/>
          </a:xfrm>
        </p:grpSpPr>
        <p:sp>
          <p:nvSpPr>
            <p:cNvPr name="Freeform 13" id="13"/>
            <p:cNvSpPr/>
            <p:nvPr/>
          </p:nvSpPr>
          <p:spPr>
            <a:xfrm flipH="false" flipV="false" rot="0">
              <a:off x="0" y="0"/>
              <a:ext cx="933099" cy="1246909"/>
            </a:xfrm>
            <a:custGeom>
              <a:avLst/>
              <a:gdLst/>
              <a:ahLst/>
              <a:cxnLst/>
              <a:rect r="r" b="b" t="t" l="l"/>
              <a:pathLst>
                <a:path h="1246909" w="933099">
                  <a:moveTo>
                    <a:pt x="0" y="0"/>
                  </a:moveTo>
                  <a:lnTo>
                    <a:pt x="933099" y="0"/>
                  </a:lnTo>
                  <a:lnTo>
                    <a:pt x="933099" y="1246909"/>
                  </a:lnTo>
                  <a:lnTo>
                    <a:pt x="0" y="1246909"/>
                  </a:lnTo>
                  <a:close/>
                </a:path>
              </a:pathLst>
            </a:custGeom>
            <a:solidFill>
              <a:srgbClr val="5284FF">
                <a:alpha val="89804"/>
              </a:srgbClr>
            </a:solidFill>
          </p:spPr>
        </p:sp>
        <p:sp>
          <p:nvSpPr>
            <p:cNvPr name="TextBox 14" id="14"/>
            <p:cNvSpPr txBox="true"/>
            <p:nvPr/>
          </p:nvSpPr>
          <p:spPr>
            <a:xfrm>
              <a:off x="0" y="-38100"/>
              <a:ext cx="933099" cy="1285009"/>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2510269" y="5470871"/>
            <a:ext cx="2223870" cy="2928995"/>
          </a:xfrm>
          <a:prstGeom prst="rect">
            <a:avLst/>
          </a:prstGeom>
        </p:spPr>
        <p:txBody>
          <a:bodyPr anchor="t" rtlCol="false" tIns="0" lIns="0" bIns="0" rIns="0">
            <a:spAutoFit/>
          </a:bodyPr>
          <a:lstStyle/>
          <a:p>
            <a:pPr algn="just" marL="302261" indent="-151130" lvl="1">
              <a:lnSpc>
                <a:spcPts val="2394"/>
              </a:lnSpc>
              <a:buFont typeface="Arial"/>
              <a:buChar char="•"/>
            </a:pPr>
            <a:r>
              <a:rPr lang="en-US" sz="1400">
                <a:solidFill>
                  <a:srgbClr val="1C0140"/>
                </a:solidFill>
                <a:latin typeface="Proxima Nova"/>
                <a:ea typeface="Proxima Nova"/>
                <a:cs typeface="Proxima Nova"/>
                <a:sym typeface="Proxima Nova"/>
              </a:rPr>
              <a:t>Realiza cadastro e login no sistema</a:t>
            </a:r>
          </a:p>
          <a:p>
            <a:pPr algn="just" marL="302261" indent="-151130" lvl="1">
              <a:lnSpc>
                <a:spcPts val="2394"/>
              </a:lnSpc>
              <a:buFont typeface="Arial"/>
              <a:buChar char="•"/>
            </a:pPr>
            <a:r>
              <a:rPr lang="en-US" sz="1400">
                <a:solidFill>
                  <a:srgbClr val="1C0140"/>
                </a:solidFill>
                <a:latin typeface="Proxima Nova"/>
                <a:ea typeface="Proxima Nova"/>
                <a:cs typeface="Proxima Nova"/>
                <a:sym typeface="Proxima Nova"/>
              </a:rPr>
              <a:t>Visualiza vagas de estágio disponíveis</a:t>
            </a:r>
          </a:p>
          <a:p>
            <a:pPr algn="just" marL="302261" indent="-151130" lvl="1">
              <a:lnSpc>
                <a:spcPts val="2394"/>
              </a:lnSpc>
              <a:buFont typeface="Arial"/>
              <a:buChar char="•"/>
            </a:pPr>
            <a:r>
              <a:rPr lang="en-US" sz="1400">
                <a:solidFill>
                  <a:srgbClr val="1C0140"/>
                </a:solidFill>
                <a:latin typeface="Proxima Nova"/>
                <a:ea typeface="Proxima Nova"/>
                <a:cs typeface="Proxima Nova"/>
                <a:sym typeface="Proxima Nova"/>
              </a:rPr>
              <a:t>Se candidata às vagas</a:t>
            </a:r>
          </a:p>
          <a:p>
            <a:pPr algn="just" marL="302261" indent="-151130" lvl="1">
              <a:lnSpc>
                <a:spcPts val="2394"/>
              </a:lnSpc>
              <a:buFont typeface="Arial"/>
              <a:buChar char="•"/>
            </a:pPr>
            <a:r>
              <a:rPr lang="en-US" sz="1400">
                <a:solidFill>
                  <a:srgbClr val="1C0140"/>
                </a:solidFill>
                <a:latin typeface="Proxima Nova"/>
                <a:ea typeface="Proxima Nova"/>
                <a:cs typeface="Proxima Nova"/>
                <a:sym typeface="Proxima Nova"/>
              </a:rPr>
              <a:t>Acompanha o status das candidaturas</a:t>
            </a:r>
          </a:p>
          <a:p>
            <a:pPr algn="just" marL="302261" indent="-151130" lvl="1">
              <a:lnSpc>
                <a:spcPts val="2394"/>
              </a:lnSpc>
              <a:buFont typeface="Arial"/>
              <a:buChar char="•"/>
            </a:pPr>
            <a:r>
              <a:rPr lang="en-US" sz="1400">
                <a:solidFill>
                  <a:srgbClr val="1C0140"/>
                </a:solidFill>
                <a:latin typeface="Proxima Nova"/>
                <a:ea typeface="Proxima Nova"/>
                <a:cs typeface="Proxima Nova"/>
                <a:sym typeface="Proxima Nova"/>
              </a:rPr>
              <a:t>Envia documentos e relatórios</a:t>
            </a:r>
          </a:p>
          <a:p>
            <a:pPr algn="just">
              <a:lnSpc>
                <a:spcPts val="2394"/>
              </a:lnSpc>
            </a:pPr>
          </a:p>
        </p:txBody>
      </p:sp>
      <p:sp>
        <p:nvSpPr>
          <p:cNvPr name="TextBox 16" id="16"/>
          <p:cNvSpPr txBox="true"/>
          <p:nvPr/>
        </p:nvSpPr>
        <p:spPr>
          <a:xfrm rot="0">
            <a:off x="2120173" y="4647666"/>
            <a:ext cx="2791104" cy="307334"/>
          </a:xfrm>
          <a:prstGeom prst="rect">
            <a:avLst/>
          </a:prstGeom>
        </p:spPr>
        <p:txBody>
          <a:bodyPr anchor="t" rtlCol="false" tIns="0" lIns="0" bIns="0" rIns="0">
            <a:spAutoFit/>
          </a:bodyPr>
          <a:lstStyle/>
          <a:p>
            <a:pPr algn="ctr">
              <a:lnSpc>
                <a:spcPts val="2249"/>
              </a:lnSpc>
            </a:pPr>
            <a:r>
              <a:rPr lang="en-US" b="true" sz="2556" spc="-161">
                <a:solidFill>
                  <a:srgbClr val="1C0140"/>
                </a:solidFill>
                <a:latin typeface="Proxima Nova Bold"/>
                <a:ea typeface="Proxima Nova Bold"/>
                <a:cs typeface="Proxima Nova Bold"/>
                <a:sym typeface="Proxima Nova Bold"/>
              </a:rPr>
              <a:t>Aluno</a:t>
            </a:r>
          </a:p>
        </p:txBody>
      </p:sp>
      <p:sp>
        <p:nvSpPr>
          <p:cNvPr name="TextBox 17" id="17"/>
          <p:cNvSpPr txBox="true"/>
          <p:nvPr/>
        </p:nvSpPr>
        <p:spPr>
          <a:xfrm rot="0">
            <a:off x="6246041" y="5470871"/>
            <a:ext cx="2223870" cy="2338395"/>
          </a:xfrm>
          <a:prstGeom prst="rect">
            <a:avLst/>
          </a:prstGeom>
        </p:spPr>
        <p:txBody>
          <a:bodyPr anchor="t" rtlCol="false" tIns="0" lIns="0" bIns="0" rIns="0">
            <a:spAutoFit/>
          </a:bodyPr>
          <a:lstStyle/>
          <a:p>
            <a:pPr algn="just" marL="302261" indent="-151130" lvl="1">
              <a:lnSpc>
                <a:spcPts val="2394"/>
              </a:lnSpc>
              <a:buFont typeface="Arial"/>
              <a:buChar char="•"/>
            </a:pPr>
            <a:r>
              <a:rPr lang="en-US" sz="1400">
                <a:solidFill>
                  <a:srgbClr val="1C0140"/>
                </a:solidFill>
                <a:latin typeface="Proxima Nova"/>
                <a:ea typeface="Proxima Nova"/>
                <a:cs typeface="Proxima Nova"/>
                <a:sym typeface="Proxima Nova"/>
              </a:rPr>
              <a:t>Realiza cadastro e login</a:t>
            </a:r>
          </a:p>
          <a:p>
            <a:pPr algn="just" marL="302261" indent="-151130" lvl="1">
              <a:lnSpc>
                <a:spcPts val="2394"/>
              </a:lnSpc>
              <a:buFont typeface="Arial"/>
              <a:buChar char="•"/>
            </a:pPr>
            <a:r>
              <a:rPr lang="en-US" sz="1400">
                <a:solidFill>
                  <a:srgbClr val="1C0140"/>
                </a:solidFill>
                <a:latin typeface="Proxima Nova"/>
                <a:ea typeface="Proxima Nova"/>
                <a:cs typeface="Proxima Nova"/>
                <a:sym typeface="Proxima Nova"/>
              </a:rPr>
              <a:t>Cadastra vagas de estágio</a:t>
            </a:r>
          </a:p>
          <a:p>
            <a:pPr algn="just" marL="302261" indent="-151130" lvl="1">
              <a:lnSpc>
                <a:spcPts val="2394"/>
              </a:lnSpc>
              <a:buFont typeface="Arial"/>
              <a:buChar char="•"/>
            </a:pPr>
            <a:r>
              <a:rPr lang="en-US" sz="1400">
                <a:solidFill>
                  <a:srgbClr val="1C0140"/>
                </a:solidFill>
                <a:latin typeface="Proxima Nova"/>
                <a:ea typeface="Proxima Nova"/>
                <a:cs typeface="Proxima Nova"/>
                <a:sym typeface="Proxima Nova"/>
              </a:rPr>
              <a:t>Visualiza candidatos inscritos</a:t>
            </a:r>
          </a:p>
          <a:p>
            <a:pPr algn="just" marL="302261" indent="-151130" lvl="1">
              <a:lnSpc>
                <a:spcPts val="2394"/>
              </a:lnSpc>
              <a:buFont typeface="Arial"/>
              <a:buChar char="•"/>
            </a:pPr>
            <a:r>
              <a:rPr lang="en-US" sz="1400">
                <a:solidFill>
                  <a:srgbClr val="1C0140"/>
                </a:solidFill>
                <a:latin typeface="Proxima Nova"/>
                <a:ea typeface="Proxima Nova"/>
                <a:cs typeface="Proxima Nova"/>
                <a:sym typeface="Proxima Nova"/>
              </a:rPr>
              <a:t>Aprova ou rejeita candidatos</a:t>
            </a:r>
          </a:p>
          <a:p>
            <a:pPr algn="just">
              <a:lnSpc>
                <a:spcPts val="2394"/>
              </a:lnSpc>
            </a:pPr>
          </a:p>
        </p:txBody>
      </p:sp>
      <p:sp>
        <p:nvSpPr>
          <p:cNvPr name="TextBox 18" id="18"/>
          <p:cNvSpPr txBox="true"/>
          <p:nvPr/>
        </p:nvSpPr>
        <p:spPr>
          <a:xfrm rot="0">
            <a:off x="5960709" y="4647666"/>
            <a:ext cx="2791104" cy="307334"/>
          </a:xfrm>
          <a:prstGeom prst="rect">
            <a:avLst/>
          </a:prstGeom>
        </p:spPr>
        <p:txBody>
          <a:bodyPr anchor="t" rtlCol="false" tIns="0" lIns="0" bIns="0" rIns="0">
            <a:spAutoFit/>
          </a:bodyPr>
          <a:lstStyle/>
          <a:p>
            <a:pPr algn="ctr">
              <a:lnSpc>
                <a:spcPts val="2249"/>
              </a:lnSpc>
            </a:pPr>
            <a:r>
              <a:rPr lang="en-US" b="true" sz="2556" spc="-161">
                <a:solidFill>
                  <a:srgbClr val="1C0140"/>
                </a:solidFill>
                <a:latin typeface="Proxima Nova Bold"/>
                <a:ea typeface="Proxima Nova Bold"/>
                <a:cs typeface="Proxima Nova Bold"/>
                <a:sym typeface="Proxima Nova Bold"/>
              </a:rPr>
              <a:t>Empresa</a:t>
            </a:r>
          </a:p>
        </p:txBody>
      </p:sp>
      <p:sp>
        <p:nvSpPr>
          <p:cNvPr name="TextBox 19" id="19"/>
          <p:cNvSpPr txBox="true"/>
          <p:nvPr/>
        </p:nvSpPr>
        <p:spPr>
          <a:xfrm rot="0">
            <a:off x="9979742" y="5470871"/>
            <a:ext cx="2223870" cy="2633695"/>
          </a:xfrm>
          <a:prstGeom prst="rect">
            <a:avLst/>
          </a:prstGeom>
        </p:spPr>
        <p:txBody>
          <a:bodyPr anchor="t" rtlCol="false" tIns="0" lIns="0" bIns="0" rIns="0">
            <a:spAutoFit/>
          </a:bodyPr>
          <a:lstStyle/>
          <a:p>
            <a:pPr algn="just" marL="302261" indent="-151130" lvl="1">
              <a:lnSpc>
                <a:spcPts val="2394"/>
              </a:lnSpc>
              <a:buFont typeface="Arial"/>
              <a:buChar char="•"/>
            </a:pPr>
            <a:r>
              <a:rPr lang="en-US" sz="1400">
                <a:solidFill>
                  <a:srgbClr val="1C0140"/>
                </a:solidFill>
                <a:latin typeface="Proxima Nova"/>
                <a:ea typeface="Proxima Nova"/>
                <a:cs typeface="Proxima Nova"/>
                <a:sym typeface="Proxima Nova"/>
              </a:rPr>
              <a:t>Gerencia usuários do sistema</a:t>
            </a:r>
          </a:p>
          <a:p>
            <a:pPr algn="just" marL="302261" indent="-151130" lvl="1">
              <a:lnSpc>
                <a:spcPts val="2394"/>
              </a:lnSpc>
              <a:buFont typeface="Arial"/>
              <a:buChar char="•"/>
            </a:pPr>
            <a:r>
              <a:rPr lang="en-US" sz="1400">
                <a:solidFill>
                  <a:srgbClr val="1C0140"/>
                </a:solidFill>
                <a:latin typeface="Proxima Nova"/>
                <a:ea typeface="Proxima Nova"/>
                <a:cs typeface="Proxima Nova"/>
                <a:sym typeface="Proxima Nova"/>
              </a:rPr>
              <a:t>Aprova ou rejeita vagas cadastradas</a:t>
            </a:r>
          </a:p>
          <a:p>
            <a:pPr algn="just" marL="302261" indent="-151130" lvl="1">
              <a:lnSpc>
                <a:spcPts val="2394"/>
              </a:lnSpc>
              <a:buFont typeface="Arial"/>
              <a:buChar char="•"/>
            </a:pPr>
            <a:r>
              <a:rPr lang="en-US" sz="1400">
                <a:solidFill>
                  <a:srgbClr val="1C0140"/>
                </a:solidFill>
                <a:latin typeface="Proxima Nova"/>
                <a:ea typeface="Proxima Nova"/>
                <a:cs typeface="Proxima Nova"/>
                <a:sym typeface="Proxima Nova"/>
              </a:rPr>
              <a:t>Valida relatórios e documentos</a:t>
            </a:r>
          </a:p>
          <a:p>
            <a:pPr algn="just" marL="302261" indent="-151130" lvl="1">
              <a:lnSpc>
                <a:spcPts val="2394"/>
              </a:lnSpc>
              <a:buFont typeface="Arial"/>
              <a:buChar char="•"/>
            </a:pPr>
            <a:r>
              <a:rPr lang="en-US" sz="1400">
                <a:solidFill>
                  <a:srgbClr val="1C0140"/>
                </a:solidFill>
                <a:latin typeface="Proxima Nova"/>
                <a:ea typeface="Proxima Nova"/>
                <a:cs typeface="Proxima Nova"/>
                <a:sym typeface="Proxima Nova"/>
              </a:rPr>
              <a:t>Gera relatórios gerais do sistema</a:t>
            </a:r>
          </a:p>
          <a:p>
            <a:pPr algn="just">
              <a:lnSpc>
                <a:spcPts val="2394"/>
              </a:lnSpc>
            </a:pPr>
          </a:p>
        </p:txBody>
      </p:sp>
      <p:sp>
        <p:nvSpPr>
          <p:cNvPr name="TextBox 20" id="20"/>
          <p:cNvSpPr txBox="true"/>
          <p:nvPr/>
        </p:nvSpPr>
        <p:spPr>
          <a:xfrm rot="0">
            <a:off x="9696125" y="4693131"/>
            <a:ext cx="2791104" cy="586964"/>
          </a:xfrm>
          <a:prstGeom prst="rect">
            <a:avLst/>
          </a:prstGeom>
        </p:spPr>
        <p:txBody>
          <a:bodyPr anchor="t" rtlCol="false" tIns="0" lIns="0" bIns="0" rIns="0">
            <a:spAutoFit/>
          </a:bodyPr>
          <a:lstStyle/>
          <a:p>
            <a:pPr algn="ctr">
              <a:lnSpc>
                <a:spcPts val="2249"/>
              </a:lnSpc>
            </a:pPr>
            <a:r>
              <a:rPr lang="en-US" b="true" sz="2556" spc="-161">
                <a:solidFill>
                  <a:srgbClr val="1C0140"/>
                </a:solidFill>
                <a:latin typeface="Proxima Nova Bold"/>
                <a:ea typeface="Proxima Nova Bold"/>
                <a:cs typeface="Proxima Nova Bold"/>
                <a:sym typeface="Proxima Nova Bold"/>
              </a:rPr>
              <a:t>Administrador do sistema</a:t>
            </a:r>
          </a:p>
        </p:txBody>
      </p:sp>
      <p:sp>
        <p:nvSpPr>
          <p:cNvPr name="TextBox 21" id="21"/>
          <p:cNvSpPr txBox="true"/>
          <p:nvPr/>
        </p:nvSpPr>
        <p:spPr>
          <a:xfrm rot="0">
            <a:off x="13713798" y="5470871"/>
            <a:ext cx="2223870" cy="2633695"/>
          </a:xfrm>
          <a:prstGeom prst="rect">
            <a:avLst/>
          </a:prstGeom>
        </p:spPr>
        <p:txBody>
          <a:bodyPr anchor="t" rtlCol="false" tIns="0" lIns="0" bIns="0" rIns="0">
            <a:spAutoFit/>
          </a:bodyPr>
          <a:lstStyle/>
          <a:p>
            <a:pPr algn="just" marL="302261" indent="-151130" lvl="1">
              <a:lnSpc>
                <a:spcPts val="2394"/>
              </a:lnSpc>
              <a:buFont typeface="Arial"/>
              <a:buChar char="•"/>
            </a:pPr>
            <a:r>
              <a:rPr lang="en-US" sz="1400">
                <a:solidFill>
                  <a:srgbClr val="1C0140"/>
                </a:solidFill>
                <a:latin typeface="Proxima Nova"/>
                <a:ea typeface="Proxima Nova"/>
                <a:cs typeface="Proxima Nova"/>
                <a:sym typeface="Proxima Nova"/>
              </a:rPr>
              <a:t>Valida dados automaticamente</a:t>
            </a:r>
          </a:p>
          <a:p>
            <a:pPr algn="just" marL="302261" indent="-151130" lvl="1">
              <a:lnSpc>
                <a:spcPts val="2394"/>
              </a:lnSpc>
              <a:buFont typeface="Arial"/>
              <a:buChar char="•"/>
            </a:pPr>
            <a:r>
              <a:rPr lang="en-US" sz="1400">
                <a:solidFill>
                  <a:srgbClr val="1C0140"/>
                </a:solidFill>
                <a:latin typeface="Proxima Nova"/>
                <a:ea typeface="Proxima Nova"/>
                <a:cs typeface="Proxima Nova"/>
                <a:sym typeface="Proxima Nova"/>
              </a:rPr>
              <a:t>Processa regras de negócio</a:t>
            </a:r>
          </a:p>
          <a:p>
            <a:pPr algn="just" marL="302261" indent="-151130" lvl="1">
              <a:lnSpc>
                <a:spcPts val="2394"/>
              </a:lnSpc>
              <a:buFont typeface="Arial"/>
              <a:buChar char="•"/>
            </a:pPr>
            <a:r>
              <a:rPr lang="en-US" sz="1400">
                <a:solidFill>
                  <a:srgbClr val="1C0140"/>
                </a:solidFill>
                <a:latin typeface="Proxima Nova"/>
                <a:ea typeface="Proxima Nova"/>
                <a:cs typeface="Proxima Nova"/>
                <a:sym typeface="Proxima Nova"/>
              </a:rPr>
              <a:t>Controla autenticação e segurança</a:t>
            </a:r>
          </a:p>
          <a:p>
            <a:pPr algn="just" marL="302261" indent="-151130" lvl="1">
              <a:lnSpc>
                <a:spcPts val="2394"/>
              </a:lnSpc>
              <a:buFont typeface="Arial"/>
              <a:buChar char="•"/>
            </a:pPr>
            <a:r>
              <a:rPr lang="en-US" sz="1400">
                <a:solidFill>
                  <a:srgbClr val="1C0140"/>
                </a:solidFill>
                <a:latin typeface="Proxima Nova"/>
                <a:ea typeface="Proxima Nova"/>
                <a:cs typeface="Proxima Nova"/>
                <a:sym typeface="Proxima Nova"/>
              </a:rPr>
              <a:t>Armazena e organiza informações</a:t>
            </a:r>
          </a:p>
          <a:p>
            <a:pPr algn="just">
              <a:lnSpc>
                <a:spcPts val="2394"/>
              </a:lnSpc>
            </a:pPr>
          </a:p>
        </p:txBody>
      </p:sp>
      <p:sp>
        <p:nvSpPr>
          <p:cNvPr name="TextBox 22" id="22"/>
          <p:cNvSpPr txBox="true"/>
          <p:nvPr/>
        </p:nvSpPr>
        <p:spPr>
          <a:xfrm rot="0">
            <a:off x="13423844" y="4693131"/>
            <a:ext cx="2791104" cy="307334"/>
          </a:xfrm>
          <a:prstGeom prst="rect">
            <a:avLst/>
          </a:prstGeom>
        </p:spPr>
        <p:txBody>
          <a:bodyPr anchor="t" rtlCol="false" tIns="0" lIns="0" bIns="0" rIns="0">
            <a:spAutoFit/>
          </a:bodyPr>
          <a:lstStyle/>
          <a:p>
            <a:pPr algn="ctr">
              <a:lnSpc>
                <a:spcPts val="2249"/>
              </a:lnSpc>
            </a:pPr>
            <a:r>
              <a:rPr lang="en-US" b="true" sz="2556" spc="-161">
                <a:solidFill>
                  <a:srgbClr val="1C0140"/>
                </a:solidFill>
                <a:latin typeface="Proxima Nova Bold"/>
                <a:ea typeface="Proxima Nova Bold"/>
                <a:cs typeface="Proxima Nova Bold"/>
                <a:sym typeface="Proxima Nova Bold"/>
              </a:rPr>
              <a:t>Sistema</a:t>
            </a:r>
          </a:p>
        </p:txBody>
      </p:sp>
      <p:sp>
        <p:nvSpPr>
          <p:cNvPr name="Freeform 23" id="23"/>
          <p:cNvSpPr/>
          <p:nvPr/>
        </p:nvSpPr>
        <p:spPr>
          <a:xfrm flipH="false" flipV="false" rot="0">
            <a:off x="627923" y="-1257149"/>
            <a:ext cx="4106217" cy="4571699"/>
          </a:xfrm>
          <a:custGeom>
            <a:avLst/>
            <a:gdLst/>
            <a:ahLst/>
            <a:cxnLst/>
            <a:rect r="r" b="b" t="t" l="l"/>
            <a:pathLst>
              <a:path h="4571699" w="4106217">
                <a:moveTo>
                  <a:pt x="0" y="0"/>
                </a:moveTo>
                <a:lnTo>
                  <a:pt x="4106216" y="0"/>
                </a:lnTo>
                <a:lnTo>
                  <a:pt x="4106216" y="4571698"/>
                </a:lnTo>
                <a:lnTo>
                  <a:pt x="0" y="45716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4" id="24"/>
          <p:cNvSpPr/>
          <p:nvPr/>
        </p:nvSpPr>
        <p:spPr>
          <a:xfrm flipH="false" flipV="false" rot="0">
            <a:off x="-2200587" y="-2810600"/>
            <a:ext cx="3898412" cy="4571699"/>
          </a:xfrm>
          <a:custGeom>
            <a:avLst/>
            <a:gdLst/>
            <a:ahLst/>
            <a:cxnLst/>
            <a:rect r="r" b="b" t="t" l="l"/>
            <a:pathLst>
              <a:path h="4571699" w="3898412">
                <a:moveTo>
                  <a:pt x="0" y="0"/>
                </a:moveTo>
                <a:lnTo>
                  <a:pt x="3898412" y="0"/>
                </a:lnTo>
                <a:lnTo>
                  <a:pt x="3898412" y="4571698"/>
                </a:lnTo>
                <a:lnTo>
                  <a:pt x="0" y="45716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false" flipV="false" rot="0">
            <a:off x="-2200587" y="7703353"/>
            <a:ext cx="3341496" cy="4571699"/>
          </a:xfrm>
          <a:custGeom>
            <a:avLst/>
            <a:gdLst/>
            <a:ahLst/>
            <a:cxnLst/>
            <a:rect r="r" b="b" t="t" l="l"/>
            <a:pathLst>
              <a:path h="4571699" w="3341496">
                <a:moveTo>
                  <a:pt x="0" y="0"/>
                </a:moveTo>
                <a:lnTo>
                  <a:pt x="3341496" y="0"/>
                </a:lnTo>
                <a:lnTo>
                  <a:pt x="3341496" y="4571699"/>
                </a:lnTo>
                <a:lnTo>
                  <a:pt x="0" y="45716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6" id="26"/>
          <p:cNvSpPr/>
          <p:nvPr/>
        </p:nvSpPr>
        <p:spPr>
          <a:xfrm flipH="false" flipV="false" rot="0">
            <a:off x="-1573503" y="3134857"/>
            <a:ext cx="2644244" cy="4516565"/>
          </a:xfrm>
          <a:custGeom>
            <a:avLst/>
            <a:gdLst/>
            <a:ahLst/>
            <a:cxnLst/>
            <a:rect r="r" b="b" t="t" l="l"/>
            <a:pathLst>
              <a:path h="4516565" w="2644244">
                <a:moveTo>
                  <a:pt x="0" y="0"/>
                </a:moveTo>
                <a:lnTo>
                  <a:pt x="2644244" y="0"/>
                </a:lnTo>
                <a:lnTo>
                  <a:pt x="2644244" y="4516565"/>
                </a:lnTo>
                <a:lnTo>
                  <a:pt x="0" y="45165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8484640" y="1323745"/>
            <a:ext cx="9038063" cy="2693453"/>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Requisitos</a:t>
            </a:r>
          </a:p>
          <a:p>
            <a:pPr algn="l">
              <a:lnSpc>
                <a:spcPts val="10131"/>
              </a:lnSpc>
            </a:pPr>
            <a:r>
              <a:rPr lang="en-US" sz="11513" spc="-725" b="true">
                <a:solidFill>
                  <a:srgbClr val="1C0140"/>
                </a:solidFill>
                <a:latin typeface="Proxima Nova Bold"/>
                <a:ea typeface="Proxima Nova Bold"/>
                <a:cs typeface="Proxima Nova Bold"/>
                <a:sym typeface="Proxima Nova Bold"/>
              </a:rPr>
              <a:t>Funcionais</a:t>
            </a:r>
          </a:p>
        </p:txBody>
      </p:sp>
      <p:sp>
        <p:nvSpPr>
          <p:cNvPr name="TextBox 3" id="3"/>
          <p:cNvSpPr txBox="true"/>
          <p:nvPr/>
        </p:nvSpPr>
        <p:spPr>
          <a:xfrm rot="0">
            <a:off x="8676956" y="4839846"/>
            <a:ext cx="8226245" cy="3283921"/>
          </a:xfrm>
          <a:prstGeom prst="rect">
            <a:avLst/>
          </a:prstGeom>
        </p:spPr>
        <p:txBody>
          <a:bodyPr anchor="t" rtlCol="false" tIns="0" lIns="0" bIns="0" rIns="0">
            <a:spAutoFit/>
          </a:bodyPr>
          <a:lstStyle/>
          <a:p>
            <a:pPr algn="l" marL="560099" indent="-280049" lvl="1">
              <a:lnSpc>
                <a:spcPts val="4436"/>
              </a:lnSpc>
              <a:buFont typeface="Arial"/>
              <a:buChar char="•"/>
            </a:pPr>
            <a:r>
              <a:rPr lang="en-US" sz="2594">
                <a:solidFill>
                  <a:srgbClr val="1C0140"/>
                </a:solidFill>
                <a:latin typeface="Proxima Nova"/>
                <a:ea typeface="Proxima Nova"/>
                <a:cs typeface="Proxima Nova"/>
                <a:sym typeface="Proxima Nova"/>
              </a:rPr>
              <a:t>Cadastro de usuário</a:t>
            </a:r>
          </a:p>
          <a:p>
            <a:pPr algn="l" marL="560099" indent="-280049" lvl="1">
              <a:lnSpc>
                <a:spcPts val="4436"/>
              </a:lnSpc>
              <a:buFont typeface="Arial"/>
              <a:buChar char="•"/>
            </a:pPr>
            <a:r>
              <a:rPr lang="en-US" sz="2594">
                <a:solidFill>
                  <a:srgbClr val="1C0140"/>
                </a:solidFill>
                <a:latin typeface="Proxima Nova"/>
                <a:ea typeface="Proxima Nova"/>
                <a:cs typeface="Proxima Nova"/>
                <a:sym typeface="Proxima Nova"/>
              </a:rPr>
              <a:t>Login</a:t>
            </a:r>
          </a:p>
          <a:p>
            <a:pPr algn="l" marL="560099" indent="-280049" lvl="1">
              <a:lnSpc>
                <a:spcPts val="4436"/>
              </a:lnSpc>
              <a:buFont typeface="Arial"/>
              <a:buChar char="•"/>
            </a:pPr>
            <a:r>
              <a:rPr lang="en-US" sz="2594">
                <a:solidFill>
                  <a:srgbClr val="1C0140"/>
                </a:solidFill>
                <a:latin typeface="Proxima Nova"/>
                <a:ea typeface="Proxima Nova"/>
                <a:cs typeface="Proxima Nova"/>
                <a:sym typeface="Proxima Nova"/>
              </a:rPr>
              <a:t>Visualizar vagas</a:t>
            </a:r>
          </a:p>
          <a:p>
            <a:pPr algn="l" marL="560099" indent="-280049" lvl="1">
              <a:lnSpc>
                <a:spcPts val="4436"/>
              </a:lnSpc>
              <a:buFont typeface="Arial"/>
              <a:buChar char="•"/>
            </a:pPr>
            <a:r>
              <a:rPr lang="en-US" sz="2594">
                <a:solidFill>
                  <a:srgbClr val="1C0140"/>
                </a:solidFill>
                <a:latin typeface="Proxima Nova"/>
                <a:ea typeface="Proxima Nova"/>
                <a:cs typeface="Proxima Nova"/>
                <a:sym typeface="Proxima Nova"/>
              </a:rPr>
              <a:t>Candidatar-se</a:t>
            </a:r>
          </a:p>
          <a:p>
            <a:pPr algn="l" marL="560099" indent="-280049" lvl="1">
              <a:lnSpc>
                <a:spcPts val="4436"/>
              </a:lnSpc>
              <a:buFont typeface="Arial"/>
              <a:buChar char="•"/>
            </a:pPr>
            <a:r>
              <a:rPr lang="en-US" sz="2594">
                <a:solidFill>
                  <a:srgbClr val="1C0140"/>
                </a:solidFill>
                <a:latin typeface="Proxima Nova"/>
                <a:ea typeface="Proxima Nova"/>
                <a:cs typeface="Proxima Nova"/>
                <a:sym typeface="Proxima Nova"/>
              </a:rPr>
              <a:t>Aprovar/Rejeitar candidatos</a:t>
            </a:r>
          </a:p>
          <a:p>
            <a:pPr algn="l">
              <a:lnSpc>
                <a:spcPts val="4436"/>
              </a:lnSpc>
            </a:pPr>
          </a:p>
        </p:txBody>
      </p:sp>
      <p:sp>
        <p:nvSpPr>
          <p:cNvPr name="Freeform 4" id="4"/>
          <p:cNvSpPr/>
          <p:nvPr/>
        </p:nvSpPr>
        <p:spPr>
          <a:xfrm flipH="false" flipV="false" rot="0">
            <a:off x="-620396" y="-514779"/>
            <a:ext cx="2870338" cy="4902751"/>
          </a:xfrm>
          <a:custGeom>
            <a:avLst/>
            <a:gdLst/>
            <a:ahLst/>
            <a:cxnLst/>
            <a:rect r="r" b="b" t="t" l="l"/>
            <a:pathLst>
              <a:path h="4902751" w="2870338">
                <a:moveTo>
                  <a:pt x="0" y="0"/>
                </a:moveTo>
                <a:lnTo>
                  <a:pt x="2870338" y="0"/>
                </a:lnTo>
                <a:lnTo>
                  <a:pt x="2870338" y="4902752"/>
                </a:lnTo>
                <a:lnTo>
                  <a:pt x="0" y="49027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76274" y="4387973"/>
            <a:ext cx="5511729" cy="3868232"/>
          </a:xfrm>
          <a:custGeom>
            <a:avLst/>
            <a:gdLst/>
            <a:ahLst/>
            <a:cxnLst/>
            <a:rect r="r" b="b" t="t" l="l"/>
            <a:pathLst>
              <a:path h="3868232" w="5511729">
                <a:moveTo>
                  <a:pt x="0" y="0"/>
                </a:moveTo>
                <a:lnTo>
                  <a:pt x="5511729" y="0"/>
                </a:lnTo>
                <a:lnTo>
                  <a:pt x="5511729" y="3868231"/>
                </a:lnTo>
                <a:lnTo>
                  <a:pt x="0" y="38682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2954189" y="980845"/>
            <a:ext cx="3841974" cy="4902751"/>
          </a:xfrm>
          <a:custGeom>
            <a:avLst/>
            <a:gdLst/>
            <a:ahLst/>
            <a:cxnLst/>
            <a:rect r="r" b="b" t="t" l="l"/>
            <a:pathLst>
              <a:path h="4902751" w="3841974">
                <a:moveTo>
                  <a:pt x="0" y="0"/>
                </a:moveTo>
                <a:lnTo>
                  <a:pt x="3841974" y="0"/>
                </a:lnTo>
                <a:lnTo>
                  <a:pt x="3841974" y="4902752"/>
                </a:lnTo>
                <a:lnTo>
                  <a:pt x="0" y="49027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14773" y="6548481"/>
            <a:ext cx="7001733" cy="4532031"/>
          </a:xfrm>
          <a:custGeom>
            <a:avLst/>
            <a:gdLst/>
            <a:ahLst/>
            <a:cxnLst/>
            <a:rect r="r" b="b" t="t" l="l"/>
            <a:pathLst>
              <a:path h="4532031" w="7001733">
                <a:moveTo>
                  <a:pt x="0" y="0"/>
                </a:moveTo>
                <a:lnTo>
                  <a:pt x="7001732" y="0"/>
                </a:lnTo>
                <a:lnTo>
                  <a:pt x="7001732" y="4532031"/>
                </a:lnTo>
                <a:lnTo>
                  <a:pt x="0" y="453203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3958697" y="-793512"/>
            <a:ext cx="1832956" cy="2057400"/>
          </a:xfrm>
          <a:custGeom>
            <a:avLst/>
            <a:gdLst/>
            <a:ahLst/>
            <a:cxnLst/>
            <a:rect r="r" b="b" t="t" l="l"/>
            <a:pathLst>
              <a:path h="2057400" w="1832956">
                <a:moveTo>
                  <a:pt x="0" y="0"/>
                </a:moveTo>
                <a:lnTo>
                  <a:pt x="1832957" y="0"/>
                </a:lnTo>
                <a:lnTo>
                  <a:pt x="1832957"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9" id="9"/>
          <p:cNvSpPr txBox="true"/>
          <p:nvPr/>
        </p:nvSpPr>
        <p:spPr>
          <a:xfrm rot="0">
            <a:off x="5341362" y="4245098"/>
            <a:ext cx="9038063" cy="609211"/>
          </a:xfrm>
          <a:prstGeom prst="rect">
            <a:avLst/>
          </a:prstGeom>
        </p:spPr>
        <p:txBody>
          <a:bodyPr anchor="t" rtlCol="false" tIns="0" lIns="0" bIns="0" rIns="0">
            <a:spAutoFit/>
          </a:bodyPr>
          <a:lstStyle/>
          <a:p>
            <a:pPr algn="ctr">
              <a:lnSpc>
                <a:spcPts val="5291"/>
              </a:lnSpc>
              <a:spcBef>
                <a:spcPct val="0"/>
              </a:spcBef>
            </a:pPr>
            <a:r>
              <a:rPr lang="en-US" sz="3094" i="true">
                <a:solidFill>
                  <a:srgbClr val="1C0140"/>
                </a:solidFill>
                <a:latin typeface="Proxima Nova Italics"/>
                <a:ea typeface="Proxima Nova Italics"/>
                <a:cs typeface="Proxima Nova Italics"/>
                <a:sym typeface="Proxima Nova Italics"/>
              </a:rPr>
              <a:t>5 principais: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1088920" y="1285139"/>
            <a:ext cx="9038063" cy="2693453"/>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Requisitos</a:t>
            </a:r>
          </a:p>
          <a:p>
            <a:pPr algn="l">
              <a:lnSpc>
                <a:spcPts val="10131"/>
              </a:lnSpc>
            </a:pPr>
            <a:r>
              <a:rPr lang="en-US" sz="11513" spc="-725" b="true">
                <a:solidFill>
                  <a:srgbClr val="1C0140"/>
                </a:solidFill>
                <a:latin typeface="Proxima Nova Bold"/>
                <a:ea typeface="Proxima Nova Bold"/>
                <a:cs typeface="Proxima Nova Bold"/>
                <a:sym typeface="Proxima Nova Bold"/>
              </a:rPr>
              <a:t>Não Funcionais</a:t>
            </a:r>
          </a:p>
        </p:txBody>
      </p:sp>
      <p:sp>
        <p:nvSpPr>
          <p:cNvPr name="TextBox 3" id="3"/>
          <p:cNvSpPr txBox="true"/>
          <p:nvPr/>
        </p:nvSpPr>
        <p:spPr>
          <a:xfrm rot="0">
            <a:off x="1494829" y="4795942"/>
            <a:ext cx="8226245" cy="2177721"/>
          </a:xfrm>
          <a:prstGeom prst="rect">
            <a:avLst/>
          </a:prstGeom>
        </p:spPr>
        <p:txBody>
          <a:bodyPr anchor="t" rtlCol="false" tIns="0" lIns="0" bIns="0" rIns="0">
            <a:spAutoFit/>
          </a:bodyPr>
          <a:lstStyle/>
          <a:p>
            <a:pPr algn="l" marL="560099" indent="-280049" lvl="1">
              <a:lnSpc>
                <a:spcPts val="4436"/>
              </a:lnSpc>
              <a:buFont typeface="Arial"/>
              <a:buChar char="•"/>
            </a:pPr>
            <a:r>
              <a:rPr lang="en-US" sz="2594">
                <a:solidFill>
                  <a:srgbClr val="1C0140"/>
                </a:solidFill>
                <a:latin typeface="Proxima Nova"/>
                <a:ea typeface="Proxima Nova"/>
                <a:cs typeface="Proxima Nova"/>
                <a:sym typeface="Proxima Nova"/>
              </a:rPr>
              <a:t>Performance (resposta rápida)</a:t>
            </a:r>
          </a:p>
          <a:p>
            <a:pPr algn="l" marL="560099" indent="-280049" lvl="1">
              <a:lnSpc>
                <a:spcPts val="4436"/>
              </a:lnSpc>
              <a:buFont typeface="Arial"/>
              <a:buChar char="•"/>
            </a:pPr>
            <a:r>
              <a:rPr lang="en-US" sz="2594">
                <a:solidFill>
                  <a:srgbClr val="1C0140"/>
                </a:solidFill>
                <a:latin typeface="Proxima Nova"/>
                <a:ea typeface="Proxima Nova"/>
                <a:cs typeface="Proxima Nova"/>
                <a:sym typeface="Proxima Nova"/>
              </a:rPr>
              <a:t>Se</a:t>
            </a:r>
            <a:r>
              <a:rPr lang="en-US" sz="2594">
                <a:solidFill>
                  <a:srgbClr val="1C0140"/>
                </a:solidFill>
                <a:latin typeface="Proxima Nova"/>
                <a:ea typeface="Proxima Nova"/>
                <a:cs typeface="Proxima Nova"/>
                <a:sym typeface="Proxima Nova"/>
              </a:rPr>
              <a:t>gurança (autenticação)</a:t>
            </a:r>
          </a:p>
          <a:p>
            <a:pPr algn="l" marL="560099" indent="-280049" lvl="1">
              <a:lnSpc>
                <a:spcPts val="4436"/>
              </a:lnSpc>
              <a:buFont typeface="Arial"/>
              <a:buChar char="•"/>
            </a:pPr>
            <a:r>
              <a:rPr lang="en-US" sz="2594">
                <a:solidFill>
                  <a:srgbClr val="1C0140"/>
                </a:solidFill>
                <a:latin typeface="Proxima Nova"/>
                <a:ea typeface="Proxima Nova"/>
                <a:cs typeface="Proxima Nova"/>
                <a:sym typeface="Proxima Nova"/>
              </a:rPr>
              <a:t>Us</a:t>
            </a:r>
            <a:r>
              <a:rPr lang="en-US" sz="2594">
                <a:solidFill>
                  <a:srgbClr val="1C0140"/>
                </a:solidFill>
                <a:latin typeface="Proxima Nova"/>
                <a:ea typeface="Proxima Nova"/>
                <a:cs typeface="Proxima Nova"/>
                <a:sym typeface="Proxima Nova"/>
              </a:rPr>
              <a:t>abilidade (interface simples)</a:t>
            </a:r>
          </a:p>
          <a:p>
            <a:pPr algn="l">
              <a:lnSpc>
                <a:spcPts val="4436"/>
              </a:lnSpc>
            </a:pPr>
          </a:p>
        </p:txBody>
      </p:sp>
      <p:sp>
        <p:nvSpPr>
          <p:cNvPr name="Freeform 4" id="4"/>
          <p:cNvSpPr/>
          <p:nvPr/>
        </p:nvSpPr>
        <p:spPr>
          <a:xfrm flipH="false" flipV="false" rot="0">
            <a:off x="12093197" y="-553385"/>
            <a:ext cx="2870338" cy="4902751"/>
          </a:xfrm>
          <a:custGeom>
            <a:avLst/>
            <a:gdLst/>
            <a:ahLst/>
            <a:cxnLst/>
            <a:rect r="r" b="b" t="t" l="l"/>
            <a:pathLst>
              <a:path h="4902751" w="2870338">
                <a:moveTo>
                  <a:pt x="0" y="0"/>
                </a:moveTo>
                <a:lnTo>
                  <a:pt x="2870338" y="0"/>
                </a:lnTo>
                <a:lnTo>
                  <a:pt x="2870338" y="4902751"/>
                </a:lnTo>
                <a:lnTo>
                  <a:pt x="0" y="49027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1237319" y="4349366"/>
            <a:ext cx="5511729" cy="3868232"/>
          </a:xfrm>
          <a:custGeom>
            <a:avLst/>
            <a:gdLst/>
            <a:ahLst/>
            <a:cxnLst/>
            <a:rect r="r" b="b" t="t" l="l"/>
            <a:pathLst>
              <a:path h="3868232" w="5511729">
                <a:moveTo>
                  <a:pt x="0" y="0"/>
                </a:moveTo>
                <a:lnTo>
                  <a:pt x="5511729" y="0"/>
                </a:lnTo>
                <a:lnTo>
                  <a:pt x="5511729" y="3868232"/>
                </a:lnTo>
                <a:lnTo>
                  <a:pt x="0" y="38682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5667782" y="942239"/>
            <a:ext cx="3841974" cy="4902751"/>
          </a:xfrm>
          <a:custGeom>
            <a:avLst/>
            <a:gdLst/>
            <a:ahLst/>
            <a:cxnLst/>
            <a:rect r="r" b="b" t="t" l="l"/>
            <a:pathLst>
              <a:path h="4902751" w="3841974">
                <a:moveTo>
                  <a:pt x="0" y="0"/>
                </a:moveTo>
                <a:lnTo>
                  <a:pt x="3841974" y="0"/>
                </a:lnTo>
                <a:lnTo>
                  <a:pt x="3841974" y="4902751"/>
                </a:lnTo>
                <a:lnTo>
                  <a:pt x="0" y="49027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528366" y="6509875"/>
            <a:ext cx="7001733" cy="4532031"/>
          </a:xfrm>
          <a:custGeom>
            <a:avLst/>
            <a:gdLst/>
            <a:ahLst/>
            <a:cxnLst/>
            <a:rect r="r" b="b" t="t" l="l"/>
            <a:pathLst>
              <a:path h="4532031" w="7001733">
                <a:moveTo>
                  <a:pt x="0" y="0"/>
                </a:moveTo>
                <a:lnTo>
                  <a:pt x="7001733" y="0"/>
                </a:lnTo>
                <a:lnTo>
                  <a:pt x="7001733" y="4532031"/>
                </a:lnTo>
                <a:lnTo>
                  <a:pt x="0" y="453203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6672291" y="-832118"/>
            <a:ext cx="1832956" cy="2057400"/>
          </a:xfrm>
          <a:custGeom>
            <a:avLst/>
            <a:gdLst/>
            <a:ahLst/>
            <a:cxnLst/>
            <a:rect r="r" b="b" t="t" l="l"/>
            <a:pathLst>
              <a:path h="2057400" w="1832956">
                <a:moveTo>
                  <a:pt x="0" y="0"/>
                </a:moveTo>
                <a:lnTo>
                  <a:pt x="1832956" y="0"/>
                </a:lnTo>
                <a:lnTo>
                  <a:pt x="1832956"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9" id="9"/>
          <p:cNvSpPr txBox="true"/>
          <p:nvPr/>
        </p:nvSpPr>
        <p:spPr>
          <a:xfrm rot="0">
            <a:off x="17791552" y="4206491"/>
            <a:ext cx="9038063" cy="609211"/>
          </a:xfrm>
          <a:prstGeom prst="rect">
            <a:avLst/>
          </a:prstGeom>
        </p:spPr>
        <p:txBody>
          <a:bodyPr anchor="t" rtlCol="false" tIns="0" lIns="0" bIns="0" rIns="0">
            <a:spAutoFit/>
          </a:bodyPr>
          <a:lstStyle/>
          <a:p>
            <a:pPr algn="ctr">
              <a:lnSpc>
                <a:spcPts val="5291"/>
              </a:lnSpc>
              <a:spcBef>
                <a:spcPct val="0"/>
              </a:spcBef>
            </a:pPr>
            <a:r>
              <a:rPr lang="en-US" sz="3094" i="true">
                <a:solidFill>
                  <a:srgbClr val="1C0140"/>
                </a:solidFill>
                <a:latin typeface="Proxima Nova Italics"/>
                <a:ea typeface="Proxima Nova Italics"/>
                <a:cs typeface="Proxima Nova Italics"/>
                <a:sym typeface="Proxima Nova Italics"/>
              </a:rPr>
              <a:t>5 principais: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212146" y="5143500"/>
            <a:ext cx="4492767" cy="4386574"/>
          </a:xfrm>
          <a:custGeom>
            <a:avLst/>
            <a:gdLst/>
            <a:ahLst/>
            <a:cxnLst/>
            <a:rect r="r" b="b" t="t" l="l"/>
            <a:pathLst>
              <a:path h="4386574" w="4492767">
                <a:moveTo>
                  <a:pt x="0" y="0"/>
                </a:moveTo>
                <a:lnTo>
                  <a:pt x="4492767" y="0"/>
                </a:lnTo>
                <a:lnTo>
                  <a:pt x="4492767" y="4386574"/>
                </a:lnTo>
                <a:lnTo>
                  <a:pt x="0" y="43865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519254" y="-1336667"/>
            <a:ext cx="3106566" cy="4250276"/>
          </a:xfrm>
          <a:custGeom>
            <a:avLst/>
            <a:gdLst/>
            <a:ahLst/>
            <a:cxnLst/>
            <a:rect r="r" b="b" t="t" l="l"/>
            <a:pathLst>
              <a:path h="4250276" w="3106566">
                <a:moveTo>
                  <a:pt x="3106565" y="0"/>
                </a:moveTo>
                <a:lnTo>
                  <a:pt x="0" y="0"/>
                </a:lnTo>
                <a:lnTo>
                  <a:pt x="0" y="4250276"/>
                </a:lnTo>
                <a:lnTo>
                  <a:pt x="3106565" y="4250276"/>
                </a:lnTo>
                <a:lnTo>
                  <a:pt x="310656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096335" y="8627416"/>
            <a:ext cx="3332845" cy="2339051"/>
          </a:xfrm>
          <a:custGeom>
            <a:avLst/>
            <a:gdLst/>
            <a:ahLst/>
            <a:cxnLst/>
            <a:rect r="r" b="b" t="t" l="l"/>
            <a:pathLst>
              <a:path h="2339051" w="3332845">
                <a:moveTo>
                  <a:pt x="0" y="0"/>
                </a:moveTo>
                <a:lnTo>
                  <a:pt x="3332845" y="0"/>
                </a:lnTo>
                <a:lnTo>
                  <a:pt x="3332845" y="2339051"/>
                </a:lnTo>
                <a:lnTo>
                  <a:pt x="0" y="2339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923087" y="8835472"/>
            <a:ext cx="4510398" cy="2903056"/>
          </a:xfrm>
          <a:custGeom>
            <a:avLst/>
            <a:gdLst/>
            <a:ahLst/>
            <a:cxnLst/>
            <a:rect r="r" b="b" t="t" l="l"/>
            <a:pathLst>
              <a:path h="2903056" w="4510398">
                <a:moveTo>
                  <a:pt x="0" y="0"/>
                </a:moveTo>
                <a:lnTo>
                  <a:pt x="4510398" y="0"/>
                </a:lnTo>
                <a:lnTo>
                  <a:pt x="4510398" y="2903056"/>
                </a:lnTo>
                <a:lnTo>
                  <a:pt x="0" y="290305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true" flipV="false" rot="0">
            <a:off x="17072820" y="7723523"/>
            <a:ext cx="2430360" cy="3454000"/>
          </a:xfrm>
          <a:custGeom>
            <a:avLst/>
            <a:gdLst/>
            <a:ahLst/>
            <a:cxnLst/>
            <a:rect r="r" b="b" t="t" l="l"/>
            <a:pathLst>
              <a:path h="3454000" w="2430360">
                <a:moveTo>
                  <a:pt x="2430360" y="0"/>
                </a:moveTo>
                <a:lnTo>
                  <a:pt x="0" y="0"/>
                </a:lnTo>
                <a:lnTo>
                  <a:pt x="0" y="3454000"/>
                </a:lnTo>
                <a:lnTo>
                  <a:pt x="2430360" y="3454000"/>
                </a:lnTo>
                <a:lnTo>
                  <a:pt x="243036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true" flipV="false" rot="0">
            <a:off x="15861436" y="-1336667"/>
            <a:ext cx="6357135" cy="4114800"/>
          </a:xfrm>
          <a:custGeom>
            <a:avLst/>
            <a:gdLst/>
            <a:ahLst/>
            <a:cxnLst/>
            <a:rect r="r" b="b" t="t" l="l"/>
            <a:pathLst>
              <a:path h="4114800" w="6357135">
                <a:moveTo>
                  <a:pt x="6357135" y="0"/>
                </a:moveTo>
                <a:lnTo>
                  <a:pt x="0" y="0"/>
                </a:lnTo>
                <a:lnTo>
                  <a:pt x="0" y="4114800"/>
                </a:lnTo>
                <a:lnTo>
                  <a:pt x="6357135" y="4114800"/>
                </a:lnTo>
                <a:lnTo>
                  <a:pt x="6357135"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true" flipV="false" rot="0">
            <a:off x="-774922" y="2913609"/>
            <a:ext cx="1523200" cy="3298268"/>
          </a:xfrm>
          <a:custGeom>
            <a:avLst/>
            <a:gdLst/>
            <a:ahLst/>
            <a:cxnLst/>
            <a:rect r="r" b="b" t="t" l="l"/>
            <a:pathLst>
              <a:path h="3298268" w="1523200">
                <a:moveTo>
                  <a:pt x="1523200" y="0"/>
                </a:moveTo>
                <a:lnTo>
                  <a:pt x="0" y="0"/>
                </a:lnTo>
                <a:lnTo>
                  <a:pt x="0" y="3298268"/>
                </a:lnTo>
                <a:lnTo>
                  <a:pt x="1523200" y="3298268"/>
                </a:lnTo>
                <a:lnTo>
                  <a:pt x="152320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9" id="9"/>
          <p:cNvSpPr txBox="true"/>
          <p:nvPr/>
        </p:nvSpPr>
        <p:spPr>
          <a:xfrm rot="0">
            <a:off x="2016617" y="159690"/>
            <a:ext cx="6498704" cy="1566569"/>
          </a:xfrm>
          <a:prstGeom prst="rect">
            <a:avLst/>
          </a:prstGeom>
        </p:spPr>
        <p:txBody>
          <a:bodyPr anchor="t" rtlCol="false" tIns="0" lIns="0" bIns="0" rIns="0">
            <a:spAutoFit/>
          </a:bodyPr>
          <a:lstStyle/>
          <a:p>
            <a:pPr algn="ctr">
              <a:lnSpc>
                <a:spcPts val="12880"/>
              </a:lnSpc>
            </a:pPr>
            <a:r>
              <a:rPr lang="en-US" sz="9200" b="true">
                <a:solidFill>
                  <a:srgbClr val="1C0140"/>
                </a:solidFill>
                <a:latin typeface="Proxima Nova Bold"/>
                <a:ea typeface="Proxima Nova Bold"/>
                <a:cs typeface="Proxima Nova Bold"/>
                <a:sym typeface="Proxima Nova Bold"/>
              </a:rPr>
              <a:t>Caso de uso</a:t>
            </a:r>
          </a:p>
        </p:txBody>
      </p:sp>
      <p:grpSp>
        <p:nvGrpSpPr>
          <p:cNvPr name="Group 10" id="10"/>
          <p:cNvGrpSpPr/>
          <p:nvPr/>
        </p:nvGrpSpPr>
        <p:grpSpPr>
          <a:xfrm rot="0">
            <a:off x="2277441" y="1726260"/>
            <a:ext cx="5977056" cy="7803815"/>
            <a:chOff x="0" y="0"/>
            <a:chExt cx="1662419" cy="2170502"/>
          </a:xfrm>
        </p:grpSpPr>
        <p:sp>
          <p:nvSpPr>
            <p:cNvPr name="Freeform 11" id="11"/>
            <p:cNvSpPr/>
            <p:nvPr/>
          </p:nvSpPr>
          <p:spPr>
            <a:xfrm flipH="false" flipV="false" rot="0">
              <a:off x="0" y="0"/>
              <a:ext cx="1662419" cy="2170502"/>
            </a:xfrm>
            <a:custGeom>
              <a:avLst/>
              <a:gdLst/>
              <a:ahLst/>
              <a:cxnLst/>
              <a:rect r="r" b="b" t="t" l="l"/>
              <a:pathLst>
                <a:path h="2170502" w="1662419">
                  <a:moveTo>
                    <a:pt x="0" y="0"/>
                  </a:moveTo>
                  <a:lnTo>
                    <a:pt x="1662419" y="0"/>
                  </a:lnTo>
                  <a:lnTo>
                    <a:pt x="1662419" y="2170502"/>
                  </a:lnTo>
                  <a:lnTo>
                    <a:pt x="0" y="2170502"/>
                  </a:lnTo>
                  <a:close/>
                </a:path>
              </a:pathLst>
            </a:custGeom>
            <a:solidFill>
              <a:srgbClr val="5284FF">
                <a:alpha val="89804"/>
              </a:srgbClr>
            </a:solidFill>
          </p:spPr>
        </p:sp>
        <p:sp>
          <p:nvSpPr>
            <p:cNvPr name="TextBox 12" id="12"/>
            <p:cNvSpPr txBox="true"/>
            <p:nvPr/>
          </p:nvSpPr>
          <p:spPr>
            <a:xfrm>
              <a:off x="0" y="-38100"/>
              <a:ext cx="1662419" cy="2208602"/>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2411322" y="1775319"/>
            <a:ext cx="5709295" cy="7482981"/>
          </a:xfrm>
          <a:prstGeom prst="rect">
            <a:avLst/>
          </a:prstGeom>
        </p:spPr>
        <p:txBody>
          <a:bodyPr anchor="t" rtlCol="false" tIns="0" lIns="0" bIns="0" rIns="0">
            <a:spAutoFit/>
          </a:bodyPr>
          <a:lstStyle/>
          <a:p>
            <a:pPr algn="l" marL="541453" indent="-270726" lvl="1">
              <a:lnSpc>
                <a:spcPts val="4990"/>
              </a:lnSpc>
              <a:buFont typeface="Arial"/>
              <a:buChar char="•"/>
            </a:pPr>
            <a:r>
              <a:rPr lang="en-US" sz="2507">
                <a:solidFill>
                  <a:srgbClr val="F0F7FE"/>
                </a:solidFill>
                <a:latin typeface="Open Sans"/>
                <a:ea typeface="Open Sans"/>
                <a:cs typeface="Open Sans"/>
                <a:sym typeface="Open Sans"/>
              </a:rPr>
              <a:t>UC01 – Cadastro de Aluno</a:t>
            </a:r>
          </a:p>
          <a:p>
            <a:pPr algn="l" marL="541453" indent="-270726" lvl="1">
              <a:lnSpc>
                <a:spcPts val="4990"/>
              </a:lnSpc>
              <a:buFont typeface="Arial"/>
              <a:buChar char="•"/>
            </a:pPr>
            <a:r>
              <a:rPr lang="en-US" sz="2507">
                <a:solidFill>
                  <a:srgbClr val="F0F7FE"/>
                </a:solidFill>
                <a:latin typeface="Open Sans"/>
                <a:ea typeface="Open Sans"/>
                <a:cs typeface="Open Sans"/>
                <a:sym typeface="Open Sans"/>
              </a:rPr>
              <a:t>UC02 – Login</a:t>
            </a:r>
          </a:p>
          <a:p>
            <a:pPr algn="l" marL="541453" indent="-270726" lvl="1">
              <a:lnSpc>
                <a:spcPts val="4990"/>
              </a:lnSpc>
              <a:buFont typeface="Arial"/>
              <a:buChar char="•"/>
            </a:pPr>
            <a:r>
              <a:rPr lang="en-US" sz="2507">
                <a:solidFill>
                  <a:srgbClr val="F0F7FE"/>
                </a:solidFill>
                <a:latin typeface="Open Sans"/>
                <a:ea typeface="Open Sans"/>
                <a:cs typeface="Open Sans"/>
                <a:sym typeface="Open Sans"/>
              </a:rPr>
              <a:t>UC03 – Visualizar Vagas</a:t>
            </a:r>
          </a:p>
          <a:p>
            <a:pPr algn="l" marL="541453" indent="-270726" lvl="1">
              <a:lnSpc>
                <a:spcPts val="4990"/>
              </a:lnSpc>
              <a:buFont typeface="Arial"/>
              <a:buChar char="•"/>
            </a:pPr>
            <a:r>
              <a:rPr lang="en-US" sz="2507">
                <a:solidFill>
                  <a:srgbClr val="F0F7FE"/>
                </a:solidFill>
                <a:latin typeface="Open Sans"/>
                <a:ea typeface="Open Sans"/>
                <a:cs typeface="Open Sans"/>
                <a:sym typeface="Open Sans"/>
              </a:rPr>
              <a:t>UC04 – Candidatar-se a Vaga</a:t>
            </a:r>
          </a:p>
          <a:p>
            <a:pPr algn="l" marL="541453" indent="-270726" lvl="1">
              <a:lnSpc>
                <a:spcPts val="4990"/>
              </a:lnSpc>
              <a:buFont typeface="Arial"/>
              <a:buChar char="•"/>
            </a:pPr>
            <a:r>
              <a:rPr lang="en-US" sz="2507">
                <a:solidFill>
                  <a:srgbClr val="F0F7FE"/>
                </a:solidFill>
                <a:latin typeface="Open Sans"/>
                <a:ea typeface="Open Sans"/>
                <a:cs typeface="Open Sans"/>
                <a:sym typeface="Open Sans"/>
              </a:rPr>
              <a:t>UC05 – Acompanhar Candidatura</a:t>
            </a:r>
          </a:p>
          <a:p>
            <a:pPr algn="l" marL="541453" indent="-270726" lvl="1">
              <a:lnSpc>
                <a:spcPts val="4990"/>
              </a:lnSpc>
              <a:buFont typeface="Arial"/>
              <a:buChar char="•"/>
            </a:pPr>
            <a:r>
              <a:rPr lang="en-US" sz="2507">
                <a:solidFill>
                  <a:srgbClr val="F0F7FE"/>
                </a:solidFill>
                <a:latin typeface="Open Sans"/>
                <a:ea typeface="Open Sans"/>
                <a:cs typeface="Open Sans"/>
                <a:sym typeface="Open Sans"/>
              </a:rPr>
              <a:t>UC06 – Cadastro de Empresa</a:t>
            </a:r>
          </a:p>
          <a:p>
            <a:pPr algn="l" marL="541453" indent="-270726" lvl="1">
              <a:lnSpc>
                <a:spcPts val="4990"/>
              </a:lnSpc>
              <a:buFont typeface="Arial"/>
              <a:buChar char="•"/>
            </a:pPr>
            <a:r>
              <a:rPr lang="en-US" sz="2507">
                <a:solidFill>
                  <a:srgbClr val="F0F7FE"/>
                </a:solidFill>
                <a:latin typeface="Open Sans"/>
                <a:ea typeface="Open Sans"/>
                <a:cs typeface="Open Sans"/>
                <a:sym typeface="Open Sans"/>
              </a:rPr>
              <a:t>UC07 – Cadastro de Vaga</a:t>
            </a:r>
          </a:p>
          <a:p>
            <a:pPr algn="l" marL="541453" indent="-270726" lvl="1">
              <a:lnSpc>
                <a:spcPts val="4990"/>
              </a:lnSpc>
              <a:buFont typeface="Arial"/>
              <a:buChar char="•"/>
            </a:pPr>
            <a:r>
              <a:rPr lang="en-US" sz="2507">
                <a:solidFill>
                  <a:srgbClr val="F0F7FE"/>
                </a:solidFill>
                <a:latin typeface="Open Sans"/>
                <a:ea typeface="Open Sans"/>
                <a:cs typeface="Open Sans"/>
                <a:sym typeface="Open Sans"/>
              </a:rPr>
              <a:t>UC08 – Visualizar Candidatos</a:t>
            </a:r>
          </a:p>
          <a:p>
            <a:pPr algn="l" marL="541453" indent="-270726" lvl="1">
              <a:lnSpc>
                <a:spcPts val="4990"/>
              </a:lnSpc>
              <a:buFont typeface="Arial"/>
              <a:buChar char="•"/>
            </a:pPr>
            <a:r>
              <a:rPr lang="en-US" sz="2507">
                <a:solidFill>
                  <a:srgbClr val="F0F7FE"/>
                </a:solidFill>
                <a:latin typeface="Open Sans"/>
                <a:ea typeface="Open Sans"/>
                <a:cs typeface="Open Sans"/>
                <a:sym typeface="Open Sans"/>
              </a:rPr>
              <a:t>UC09 – Aprovar/Rejeitar Candidato</a:t>
            </a:r>
          </a:p>
          <a:p>
            <a:pPr algn="l" marL="541453" indent="-270726" lvl="1">
              <a:lnSpc>
                <a:spcPts val="4990"/>
              </a:lnSpc>
              <a:buFont typeface="Arial"/>
              <a:buChar char="•"/>
            </a:pPr>
            <a:r>
              <a:rPr lang="en-US" sz="2507">
                <a:solidFill>
                  <a:srgbClr val="F0F7FE"/>
                </a:solidFill>
                <a:latin typeface="Open Sans"/>
                <a:ea typeface="Open Sans"/>
                <a:cs typeface="Open Sans"/>
                <a:sym typeface="Open Sans"/>
              </a:rPr>
              <a:t>UC10 – Gerenciar Usuários</a:t>
            </a:r>
          </a:p>
          <a:p>
            <a:pPr algn="l" marL="541453" indent="-270726" lvl="1">
              <a:lnSpc>
                <a:spcPts val="4990"/>
              </a:lnSpc>
              <a:buFont typeface="Arial"/>
              <a:buChar char="•"/>
            </a:pPr>
            <a:r>
              <a:rPr lang="en-US" sz="2507">
                <a:solidFill>
                  <a:srgbClr val="F0F7FE"/>
                </a:solidFill>
                <a:latin typeface="Open Sans"/>
                <a:ea typeface="Open Sans"/>
                <a:cs typeface="Open Sans"/>
                <a:sym typeface="Open Sans"/>
              </a:rPr>
              <a:t>UC11 – Aprovar Vaga</a:t>
            </a:r>
          </a:p>
          <a:p>
            <a:pPr algn="l" marL="541453" indent="-270726" lvl="1">
              <a:lnSpc>
                <a:spcPts val="4990"/>
              </a:lnSpc>
              <a:buFont typeface="Arial"/>
              <a:buChar char="•"/>
            </a:pPr>
            <a:r>
              <a:rPr lang="en-US" sz="2507">
                <a:solidFill>
                  <a:srgbClr val="F0F7FE"/>
                </a:solidFill>
                <a:latin typeface="Open Sans"/>
                <a:ea typeface="Open Sans"/>
                <a:cs typeface="Open Sans"/>
                <a:sym typeface="Open Sans"/>
              </a:rPr>
              <a:t>UC12 – Gerar Relatórios</a:t>
            </a:r>
          </a:p>
        </p:txBody>
      </p:sp>
      <p:sp>
        <p:nvSpPr>
          <p:cNvPr name="TextBox 14" id="14"/>
          <p:cNvSpPr txBox="true"/>
          <p:nvPr/>
        </p:nvSpPr>
        <p:spPr>
          <a:xfrm rot="0">
            <a:off x="8786544" y="3135194"/>
            <a:ext cx="8065409" cy="3921362"/>
          </a:xfrm>
          <a:prstGeom prst="rect">
            <a:avLst/>
          </a:prstGeom>
        </p:spPr>
        <p:txBody>
          <a:bodyPr anchor="t" rtlCol="false" tIns="0" lIns="0" bIns="0" rIns="0">
            <a:spAutoFit/>
          </a:bodyPr>
          <a:lstStyle/>
          <a:p>
            <a:pPr algn="l">
              <a:lnSpc>
                <a:spcPts val="3505"/>
              </a:lnSpc>
            </a:pPr>
            <a:r>
              <a:rPr lang="en-US" sz="2137">
                <a:solidFill>
                  <a:srgbClr val="1C0140"/>
                </a:solidFill>
                <a:latin typeface="Open Sans"/>
                <a:ea typeface="Open Sans"/>
                <a:cs typeface="Open Sans"/>
                <a:sym typeface="Open Sans"/>
              </a:rPr>
              <a:t>O sistema permite que alunos se cadastrem, visualizem vagas e se candidatem.</a:t>
            </a:r>
          </a:p>
          <a:p>
            <a:pPr algn="l">
              <a:lnSpc>
                <a:spcPts val="3505"/>
              </a:lnSpc>
            </a:pPr>
            <a:r>
              <a:rPr lang="en-US" sz="2137">
                <a:solidFill>
                  <a:srgbClr val="1C0140"/>
                </a:solidFill>
                <a:latin typeface="Open Sans"/>
                <a:ea typeface="Open Sans"/>
                <a:cs typeface="Open Sans"/>
                <a:sym typeface="Open Sans"/>
              </a:rPr>
              <a:t>Empresas podem cadastrar vagas e gerenciar candidatos.</a:t>
            </a:r>
          </a:p>
          <a:p>
            <a:pPr algn="l">
              <a:lnSpc>
                <a:spcPts val="3505"/>
              </a:lnSpc>
            </a:pPr>
            <a:r>
              <a:rPr lang="en-US" sz="2137">
                <a:solidFill>
                  <a:srgbClr val="1C0140"/>
                </a:solidFill>
                <a:latin typeface="Open Sans"/>
                <a:ea typeface="Open Sans"/>
                <a:cs typeface="Open Sans"/>
                <a:sym typeface="Open Sans"/>
              </a:rPr>
              <a:t>Administradores controlam usuários, aprovam vagas e geram relatórios.</a:t>
            </a:r>
          </a:p>
          <a:p>
            <a:pPr algn="l">
              <a:lnSpc>
                <a:spcPts val="3505"/>
              </a:lnSpc>
            </a:pPr>
          </a:p>
          <a:p>
            <a:pPr algn="l">
              <a:lnSpc>
                <a:spcPts val="3505"/>
              </a:lnSpc>
            </a:pPr>
            <a:r>
              <a:rPr lang="en-US" sz="2137">
                <a:solidFill>
                  <a:srgbClr val="1C0140"/>
                </a:solidFill>
                <a:latin typeface="Open Sans"/>
                <a:ea typeface="Open Sans"/>
                <a:cs typeface="Open Sans"/>
                <a:sym typeface="Open Sans"/>
              </a:rPr>
              <a:t>Os casos de uso foram organizados com relacionamentos &lt;&lt;include&gt;&gt; e &lt;&lt;extend&gt;&gt;,</a:t>
            </a:r>
          </a:p>
          <a:p>
            <a:pPr algn="l">
              <a:lnSpc>
                <a:spcPts val="3505"/>
              </a:lnSpc>
            </a:pPr>
            <a:r>
              <a:rPr lang="en-US" sz="2137">
                <a:solidFill>
                  <a:srgbClr val="1C0140"/>
                </a:solidFill>
                <a:latin typeface="Open Sans"/>
                <a:ea typeface="Open Sans"/>
                <a:cs typeface="Open Sans"/>
                <a:sym typeface="Open Sans"/>
              </a:rPr>
              <a:t>representando fluxos principais e alternativos do sistema.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1788701" y="8480262"/>
            <a:ext cx="4142521" cy="2907297"/>
          </a:xfrm>
          <a:custGeom>
            <a:avLst/>
            <a:gdLst/>
            <a:ahLst/>
            <a:cxnLst/>
            <a:rect r="r" b="b" t="t" l="l"/>
            <a:pathLst>
              <a:path h="2907297" w="4142521">
                <a:moveTo>
                  <a:pt x="0" y="0"/>
                </a:moveTo>
                <a:lnTo>
                  <a:pt x="4142521" y="0"/>
                </a:lnTo>
                <a:lnTo>
                  <a:pt x="4142521" y="2907297"/>
                </a:lnTo>
                <a:lnTo>
                  <a:pt x="0" y="29072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82560" y="342900"/>
            <a:ext cx="11239720" cy="2693453"/>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Diagrama Caso de uso</a:t>
            </a:r>
          </a:p>
        </p:txBody>
      </p:sp>
      <p:sp>
        <p:nvSpPr>
          <p:cNvPr name="Freeform 4" id="4"/>
          <p:cNvSpPr/>
          <p:nvPr/>
        </p:nvSpPr>
        <p:spPr>
          <a:xfrm flipH="false" flipV="false" rot="0">
            <a:off x="304282" y="3464830"/>
            <a:ext cx="2010420" cy="4881943"/>
          </a:xfrm>
          <a:custGeom>
            <a:avLst/>
            <a:gdLst/>
            <a:ahLst/>
            <a:cxnLst/>
            <a:rect r="r" b="b" t="t" l="l"/>
            <a:pathLst>
              <a:path h="4881943" w="2010420">
                <a:moveTo>
                  <a:pt x="0" y="0"/>
                </a:moveTo>
                <a:lnTo>
                  <a:pt x="2010420" y="0"/>
                </a:lnTo>
                <a:lnTo>
                  <a:pt x="2010420" y="4881943"/>
                </a:lnTo>
                <a:lnTo>
                  <a:pt x="0" y="4881943"/>
                </a:lnTo>
                <a:lnTo>
                  <a:pt x="0" y="0"/>
                </a:lnTo>
                <a:close/>
              </a:path>
            </a:pathLst>
          </a:custGeom>
          <a:blipFill>
            <a:blip r:embed="rId4"/>
            <a:stretch>
              <a:fillRect l="-2900" t="0" r="0" b="0"/>
            </a:stretch>
          </a:blipFill>
        </p:spPr>
      </p:sp>
      <p:sp>
        <p:nvSpPr>
          <p:cNvPr name="Freeform 5" id="5"/>
          <p:cNvSpPr/>
          <p:nvPr/>
        </p:nvSpPr>
        <p:spPr>
          <a:xfrm flipH="false" flipV="false" rot="0">
            <a:off x="3997235" y="1518176"/>
            <a:ext cx="5353102" cy="4716873"/>
          </a:xfrm>
          <a:custGeom>
            <a:avLst/>
            <a:gdLst/>
            <a:ahLst/>
            <a:cxnLst/>
            <a:rect r="r" b="b" t="t" l="l"/>
            <a:pathLst>
              <a:path h="4716873" w="5353102">
                <a:moveTo>
                  <a:pt x="0" y="0"/>
                </a:moveTo>
                <a:lnTo>
                  <a:pt x="5353102" y="0"/>
                </a:lnTo>
                <a:lnTo>
                  <a:pt x="5353102" y="4716873"/>
                </a:lnTo>
                <a:lnTo>
                  <a:pt x="0" y="4716873"/>
                </a:lnTo>
                <a:lnTo>
                  <a:pt x="0" y="0"/>
                </a:lnTo>
                <a:close/>
              </a:path>
            </a:pathLst>
          </a:custGeom>
          <a:blipFill>
            <a:blip r:embed="rId5"/>
            <a:stretch>
              <a:fillRect l="0" t="0" r="0" b="0"/>
            </a:stretch>
          </a:blipFill>
        </p:spPr>
      </p:sp>
      <p:sp>
        <p:nvSpPr>
          <p:cNvPr name="Freeform 6" id="6"/>
          <p:cNvSpPr/>
          <p:nvPr/>
        </p:nvSpPr>
        <p:spPr>
          <a:xfrm flipH="false" flipV="false" rot="0">
            <a:off x="3997235" y="6464865"/>
            <a:ext cx="5599948" cy="3763816"/>
          </a:xfrm>
          <a:custGeom>
            <a:avLst/>
            <a:gdLst/>
            <a:ahLst/>
            <a:cxnLst/>
            <a:rect r="r" b="b" t="t" l="l"/>
            <a:pathLst>
              <a:path h="3763816" w="5599948">
                <a:moveTo>
                  <a:pt x="0" y="0"/>
                </a:moveTo>
                <a:lnTo>
                  <a:pt x="5599948" y="0"/>
                </a:lnTo>
                <a:lnTo>
                  <a:pt x="5599948" y="3763816"/>
                </a:lnTo>
                <a:lnTo>
                  <a:pt x="0" y="3763816"/>
                </a:lnTo>
                <a:lnTo>
                  <a:pt x="0" y="0"/>
                </a:lnTo>
                <a:close/>
              </a:path>
            </a:pathLst>
          </a:custGeom>
          <a:blipFill>
            <a:blip r:embed="rId6"/>
            <a:stretch>
              <a:fillRect l="0" t="0" r="0" b="0"/>
            </a:stretch>
          </a:blipFill>
        </p:spPr>
      </p:sp>
      <p:sp>
        <p:nvSpPr>
          <p:cNvPr name="Freeform 7" id="7"/>
          <p:cNvSpPr/>
          <p:nvPr/>
        </p:nvSpPr>
        <p:spPr>
          <a:xfrm flipH="false" flipV="false" rot="0">
            <a:off x="10502767" y="2756812"/>
            <a:ext cx="7334413" cy="5242877"/>
          </a:xfrm>
          <a:custGeom>
            <a:avLst/>
            <a:gdLst/>
            <a:ahLst/>
            <a:cxnLst/>
            <a:rect r="r" b="b" t="t" l="l"/>
            <a:pathLst>
              <a:path h="5242877" w="7334413">
                <a:moveTo>
                  <a:pt x="0" y="0"/>
                </a:moveTo>
                <a:lnTo>
                  <a:pt x="7334413" y="0"/>
                </a:lnTo>
                <a:lnTo>
                  <a:pt x="7334413" y="5242877"/>
                </a:lnTo>
                <a:lnTo>
                  <a:pt x="0" y="5242877"/>
                </a:lnTo>
                <a:lnTo>
                  <a:pt x="0" y="0"/>
                </a:lnTo>
                <a:close/>
              </a:path>
            </a:pathLst>
          </a:custGeom>
          <a:blipFill>
            <a:blip r:embed="rId7"/>
            <a:stretch>
              <a:fillRect l="0" t="0" r="0" b="0"/>
            </a:stretch>
          </a:blipFill>
        </p:spPr>
      </p:sp>
      <p:grpSp>
        <p:nvGrpSpPr>
          <p:cNvPr name="Group 8" id="8"/>
          <p:cNvGrpSpPr/>
          <p:nvPr/>
        </p:nvGrpSpPr>
        <p:grpSpPr>
          <a:xfrm rot="0">
            <a:off x="2565492" y="5272855"/>
            <a:ext cx="810260" cy="81026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5284FF"/>
            </a:solidFill>
          </p:spPr>
        </p:sp>
        <p:sp>
          <p:nvSpPr>
            <p:cNvPr name="TextBox 10" id="10"/>
            <p:cNvSpPr txBox="true"/>
            <p:nvPr/>
          </p:nvSpPr>
          <p:spPr>
            <a:xfrm>
              <a:off x="0" y="69850"/>
              <a:ext cx="711200" cy="539750"/>
            </a:xfrm>
            <a:prstGeom prst="rect">
              <a:avLst/>
            </a:prstGeom>
          </p:spPr>
          <p:txBody>
            <a:bodyPr anchor="ctr" rtlCol="false" tIns="50800" lIns="50800" bIns="50800" rIns="50800"/>
            <a:lstStyle/>
            <a:p>
              <a:pPr algn="ctr">
                <a:lnSpc>
                  <a:spcPts val="4436"/>
                </a:lnSpc>
              </a:pP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8212772" y="8251110"/>
            <a:ext cx="7607678" cy="4813586"/>
          </a:xfrm>
          <a:custGeom>
            <a:avLst/>
            <a:gdLst/>
            <a:ahLst/>
            <a:cxnLst/>
            <a:rect r="r" b="b" t="t" l="l"/>
            <a:pathLst>
              <a:path h="4813586" w="7607678">
                <a:moveTo>
                  <a:pt x="0" y="0"/>
                </a:moveTo>
                <a:lnTo>
                  <a:pt x="7607679" y="0"/>
                </a:lnTo>
                <a:lnTo>
                  <a:pt x="7607679" y="4813586"/>
                </a:lnTo>
                <a:lnTo>
                  <a:pt x="0" y="4813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67795" y="6780087"/>
            <a:ext cx="3292727" cy="5310849"/>
          </a:xfrm>
          <a:custGeom>
            <a:avLst/>
            <a:gdLst/>
            <a:ahLst/>
            <a:cxnLst/>
            <a:rect r="r" b="b" t="t" l="l"/>
            <a:pathLst>
              <a:path h="5310849" w="3292727">
                <a:moveTo>
                  <a:pt x="0" y="0"/>
                </a:moveTo>
                <a:lnTo>
                  <a:pt x="3292727" y="0"/>
                </a:lnTo>
                <a:lnTo>
                  <a:pt x="3292727" y="5310850"/>
                </a:lnTo>
                <a:lnTo>
                  <a:pt x="0" y="5310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675193" y="6514682"/>
            <a:ext cx="3168214" cy="4813586"/>
          </a:xfrm>
          <a:custGeom>
            <a:avLst/>
            <a:gdLst/>
            <a:ahLst/>
            <a:cxnLst/>
            <a:rect r="r" b="b" t="t" l="l"/>
            <a:pathLst>
              <a:path h="4813586" w="3168214">
                <a:moveTo>
                  <a:pt x="0" y="0"/>
                </a:moveTo>
                <a:lnTo>
                  <a:pt x="3168214" y="0"/>
                </a:lnTo>
                <a:lnTo>
                  <a:pt x="3168214" y="4813586"/>
                </a:lnTo>
                <a:lnTo>
                  <a:pt x="0" y="48135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011248" y="-974220"/>
            <a:ext cx="2984423" cy="4813586"/>
          </a:xfrm>
          <a:custGeom>
            <a:avLst/>
            <a:gdLst/>
            <a:ahLst/>
            <a:cxnLst/>
            <a:rect r="r" b="b" t="t" l="l"/>
            <a:pathLst>
              <a:path h="4813586" w="2984423">
                <a:moveTo>
                  <a:pt x="0" y="0"/>
                </a:moveTo>
                <a:lnTo>
                  <a:pt x="2984423" y="0"/>
                </a:lnTo>
                <a:lnTo>
                  <a:pt x="2984423" y="4813585"/>
                </a:lnTo>
                <a:lnTo>
                  <a:pt x="0" y="48135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7472471" y="1887136"/>
            <a:ext cx="1523200" cy="3298268"/>
          </a:xfrm>
          <a:custGeom>
            <a:avLst/>
            <a:gdLst/>
            <a:ahLst/>
            <a:cxnLst/>
            <a:rect r="r" b="b" t="t" l="l"/>
            <a:pathLst>
              <a:path h="3298268" w="1523200">
                <a:moveTo>
                  <a:pt x="0" y="0"/>
                </a:moveTo>
                <a:lnTo>
                  <a:pt x="1523200" y="0"/>
                </a:lnTo>
                <a:lnTo>
                  <a:pt x="1523200" y="3298269"/>
                </a:lnTo>
                <a:lnTo>
                  <a:pt x="0" y="329826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0" y="-570897"/>
            <a:ext cx="1477446" cy="3199194"/>
          </a:xfrm>
          <a:custGeom>
            <a:avLst/>
            <a:gdLst/>
            <a:ahLst/>
            <a:cxnLst/>
            <a:rect r="r" b="b" t="t" l="l"/>
            <a:pathLst>
              <a:path h="3199194" w="1477446">
                <a:moveTo>
                  <a:pt x="0" y="0"/>
                </a:moveTo>
                <a:lnTo>
                  <a:pt x="1477446" y="0"/>
                </a:lnTo>
                <a:lnTo>
                  <a:pt x="1477446" y="3199194"/>
                </a:lnTo>
                <a:lnTo>
                  <a:pt x="0" y="319919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477446" y="3980191"/>
            <a:ext cx="15908499" cy="2326618"/>
          </a:xfrm>
          <a:custGeom>
            <a:avLst/>
            <a:gdLst/>
            <a:ahLst/>
            <a:cxnLst/>
            <a:rect r="r" b="b" t="t" l="l"/>
            <a:pathLst>
              <a:path h="2326618" w="15908499">
                <a:moveTo>
                  <a:pt x="0" y="0"/>
                </a:moveTo>
                <a:lnTo>
                  <a:pt x="15908499" y="0"/>
                </a:lnTo>
                <a:lnTo>
                  <a:pt x="15908499" y="2326618"/>
                </a:lnTo>
                <a:lnTo>
                  <a:pt x="0" y="2326618"/>
                </a:lnTo>
                <a:lnTo>
                  <a:pt x="0" y="0"/>
                </a:lnTo>
                <a:close/>
              </a:path>
            </a:pathLst>
          </a:custGeom>
          <a:blipFill>
            <a:blip r:embed="rId12"/>
            <a:stretch>
              <a:fillRect l="0" t="0" r="0" b="0"/>
            </a:stretch>
          </a:blipFill>
        </p:spPr>
      </p:sp>
      <p:sp>
        <p:nvSpPr>
          <p:cNvPr name="TextBox 9" id="9"/>
          <p:cNvSpPr txBox="true"/>
          <p:nvPr/>
        </p:nvSpPr>
        <p:spPr>
          <a:xfrm rot="0">
            <a:off x="2131594" y="1203973"/>
            <a:ext cx="12162358" cy="1974485"/>
          </a:xfrm>
          <a:prstGeom prst="rect">
            <a:avLst/>
          </a:prstGeom>
        </p:spPr>
        <p:txBody>
          <a:bodyPr anchor="t" rtlCol="false" tIns="0" lIns="0" bIns="0" rIns="0">
            <a:spAutoFit/>
          </a:bodyPr>
          <a:lstStyle/>
          <a:p>
            <a:pPr algn="ctr">
              <a:lnSpc>
                <a:spcPts val="16118"/>
              </a:lnSpc>
              <a:spcBef>
                <a:spcPct val="0"/>
              </a:spcBef>
            </a:pPr>
            <a:r>
              <a:rPr lang="en-US" b="true" sz="11513" spc="-725">
                <a:solidFill>
                  <a:srgbClr val="1C0140"/>
                </a:solidFill>
                <a:latin typeface="Proxima Nova Bold"/>
                <a:ea typeface="Proxima Nova Bold"/>
                <a:cs typeface="Proxima Nova Bold"/>
                <a:sym typeface="Proxima Nova Bold"/>
              </a:rPr>
              <a:t>Diagrama de Classes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1592664" y="1606629"/>
            <a:ext cx="14798134" cy="1410880"/>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Conclusão</a:t>
            </a:r>
          </a:p>
        </p:txBody>
      </p:sp>
      <p:sp>
        <p:nvSpPr>
          <p:cNvPr name="TextBox 3" id="3"/>
          <p:cNvSpPr txBox="true"/>
          <p:nvPr/>
        </p:nvSpPr>
        <p:spPr>
          <a:xfrm rot="0">
            <a:off x="1745640" y="4126008"/>
            <a:ext cx="7091657" cy="3432682"/>
          </a:xfrm>
          <a:prstGeom prst="rect">
            <a:avLst/>
          </a:prstGeom>
        </p:spPr>
        <p:txBody>
          <a:bodyPr anchor="t" rtlCol="false" tIns="0" lIns="0" bIns="0" rIns="0">
            <a:spAutoFit/>
          </a:bodyPr>
          <a:lstStyle/>
          <a:p>
            <a:pPr algn="l" marL="586545" indent="-293273" lvl="1">
              <a:lnSpc>
                <a:spcPts val="4645"/>
              </a:lnSpc>
              <a:buFont typeface="Arial"/>
              <a:buChar char="•"/>
            </a:pPr>
            <a:r>
              <a:rPr lang="en-US" sz="2716">
                <a:solidFill>
                  <a:srgbClr val="1C0140"/>
                </a:solidFill>
                <a:latin typeface="Proxima Nova"/>
                <a:ea typeface="Proxima Nova"/>
                <a:cs typeface="Proxima Nova"/>
                <a:sym typeface="Proxima Nova"/>
              </a:rPr>
              <a:t>Sistema resolve problema real</a:t>
            </a:r>
          </a:p>
          <a:p>
            <a:pPr algn="l" marL="586545" indent="-293273" lvl="1">
              <a:lnSpc>
                <a:spcPts val="4645"/>
              </a:lnSpc>
              <a:buFont typeface="Arial"/>
              <a:buChar char="•"/>
            </a:pPr>
            <a:r>
              <a:rPr lang="en-US" sz="2716">
                <a:solidFill>
                  <a:srgbClr val="1C0140"/>
                </a:solidFill>
                <a:latin typeface="Proxima Nova"/>
                <a:ea typeface="Proxima Nova"/>
                <a:cs typeface="Proxima Nova"/>
                <a:sym typeface="Proxima Nova"/>
              </a:rPr>
              <a:t>Automatiza processos</a:t>
            </a:r>
          </a:p>
          <a:p>
            <a:pPr algn="l" marL="586545" indent="-293273" lvl="1">
              <a:lnSpc>
                <a:spcPts val="4645"/>
              </a:lnSpc>
              <a:buFont typeface="Arial"/>
              <a:buChar char="•"/>
            </a:pPr>
            <a:r>
              <a:rPr lang="en-US" sz="2716">
                <a:solidFill>
                  <a:srgbClr val="1C0140"/>
                </a:solidFill>
                <a:latin typeface="Proxima Nova"/>
                <a:ea typeface="Proxima Nova"/>
                <a:cs typeface="Proxima Nova"/>
                <a:sym typeface="Proxima Nova"/>
              </a:rPr>
              <a:t>Reduz erros humanos</a:t>
            </a:r>
          </a:p>
          <a:p>
            <a:pPr algn="l" marL="586545" indent="-293273" lvl="1">
              <a:lnSpc>
                <a:spcPts val="4645"/>
              </a:lnSpc>
              <a:buFont typeface="Arial"/>
              <a:buChar char="•"/>
            </a:pPr>
            <a:r>
              <a:rPr lang="en-US" sz="2716">
                <a:solidFill>
                  <a:srgbClr val="1C0140"/>
                </a:solidFill>
                <a:latin typeface="Proxima Nova"/>
                <a:ea typeface="Proxima Nova"/>
                <a:cs typeface="Proxima Nova"/>
                <a:sym typeface="Proxima Nova"/>
              </a:rPr>
              <a:t>Projeto viável tecnicamente</a:t>
            </a:r>
          </a:p>
          <a:p>
            <a:pPr algn="l">
              <a:lnSpc>
                <a:spcPts val="4645"/>
              </a:lnSpc>
            </a:pPr>
            <a:r>
              <a:rPr lang="en-US" sz="2716">
                <a:solidFill>
                  <a:srgbClr val="1C0140"/>
                </a:solidFill>
                <a:latin typeface="Proxima Nova"/>
                <a:ea typeface="Proxima Nova"/>
                <a:cs typeface="Proxima Nova"/>
                <a:sym typeface="Proxima Nova"/>
              </a:rPr>
              <a:t> </a:t>
            </a:r>
          </a:p>
          <a:p>
            <a:pPr algn="l">
              <a:lnSpc>
                <a:spcPts val="4645"/>
              </a:lnSpc>
            </a:pPr>
          </a:p>
        </p:txBody>
      </p:sp>
      <p:sp>
        <p:nvSpPr>
          <p:cNvPr name="Freeform 4" id="4"/>
          <p:cNvSpPr/>
          <p:nvPr/>
        </p:nvSpPr>
        <p:spPr>
          <a:xfrm flipH="false" flipV="false" rot="0">
            <a:off x="13718898" y="5390422"/>
            <a:ext cx="4106217" cy="4571699"/>
          </a:xfrm>
          <a:custGeom>
            <a:avLst/>
            <a:gdLst/>
            <a:ahLst/>
            <a:cxnLst/>
            <a:rect r="r" b="b" t="t" l="l"/>
            <a:pathLst>
              <a:path h="4571699" w="4106217">
                <a:moveTo>
                  <a:pt x="0" y="0"/>
                </a:moveTo>
                <a:lnTo>
                  <a:pt x="4106217" y="0"/>
                </a:lnTo>
                <a:lnTo>
                  <a:pt x="4106217" y="4571698"/>
                </a:lnTo>
                <a:lnTo>
                  <a:pt x="0" y="45716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1173063" y="3623175"/>
            <a:ext cx="3898412" cy="4571699"/>
          </a:xfrm>
          <a:custGeom>
            <a:avLst/>
            <a:gdLst/>
            <a:ahLst/>
            <a:cxnLst/>
            <a:rect r="r" b="b" t="t" l="l"/>
            <a:pathLst>
              <a:path h="4571699" w="3898412">
                <a:moveTo>
                  <a:pt x="0" y="0"/>
                </a:moveTo>
                <a:lnTo>
                  <a:pt x="3898412" y="0"/>
                </a:lnTo>
                <a:lnTo>
                  <a:pt x="3898412" y="4571699"/>
                </a:lnTo>
                <a:lnTo>
                  <a:pt x="0" y="45716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358208" y="1263729"/>
            <a:ext cx="3341496" cy="4571699"/>
          </a:xfrm>
          <a:custGeom>
            <a:avLst/>
            <a:gdLst/>
            <a:ahLst/>
            <a:cxnLst/>
            <a:rect r="r" b="b" t="t" l="l"/>
            <a:pathLst>
              <a:path h="4571699" w="3341496">
                <a:moveTo>
                  <a:pt x="0" y="0"/>
                </a:moveTo>
                <a:lnTo>
                  <a:pt x="3341496" y="0"/>
                </a:lnTo>
                <a:lnTo>
                  <a:pt x="3341496" y="4571699"/>
                </a:lnTo>
                <a:lnTo>
                  <a:pt x="0" y="45716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1074655" y="8589082"/>
            <a:ext cx="2644244" cy="4516565"/>
          </a:xfrm>
          <a:custGeom>
            <a:avLst/>
            <a:gdLst/>
            <a:ahLst/>
            <a:cxnLst/>
            <a:rect r="r" b="b" t="t" l="l"/>
            <a:pathLst>
              <a:path h="4516565" w="2644244">
                <a:moveTo>
                  <a:pt x="0" y="0"/>
                </a:moveTo>
                <a:lnTo>
                  <a:pt x="2644243" y="0"/>
                </a:lnTo>
                <a:lnTo>
                  <a:pt x="2644243" y="4516565"/>
                </a:lnTo>
                <a:lnTo>
                  <a:pt x="0" y="45165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9144000" y="4182055"/>
            <a:ext cx="2848578" cy="1843807"/>
          </a:xfrm>
          <a:custGeom>
            <a:avLst/>
            <a:gdLst/>
            <a:ahLst/>
            <a:cxnLst/>
            <a:rect r="r" b="b" t="t" l="l"/>
            <a:pathLst>
              <a:path h="1843807" w="2848578">
                <a:moveTo>
                  <a:pt x="0" y="0"/>
                </a:moveTo>
                <a:lnTo>
                  <a:pt x="2848578" y="0"/>
                </a:lnTo>
                <a:lnTo>
                  <a:pt x="2848578" y="1843806"/>
                </a:lnTo>
                <a:lnTo>
                  <a:pt x="0" y="184380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1426315" y="7717946"/>
            <a:ext cx="7717685" cy="1409228"/>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Obrigada</a:t>
            </a:r>
          </a:p>
        </p:txBody>
      </p:sp>
      <p:sp>
        <p:nvSpPr>
          <p:cNvPr name="Freeform 3" id="3"/>
          <p:cNvSpPr/>
          <p:nvPr/>
        </p:nvSpPr>
        <p:spPr>
          <a:xfrm flipH="false" flipV="false" rot="0">
            <a:off x="8212772" y="8251110"/>
            <a:ext cx="7607678" cy="4813586"/>
          </a:xfrm>
          <a:custGeom>
            <a:avLst/>
            <a:gdLst/>
            <a:ahLst/>
            <a:cxnLst/>
            <a:rect r="r" b="b" t="t" l="l"/>
            <a:pathLst>
              <a:path h="4813586" w="7607678">
                <a:moveTo>
                  <a:pt x="0" y="0"/>
                </a:moveTo>
                <a:lnTo>
                  <a:pt x="7607679" y="0"/>
                </a:lnTo>
                <a:lnTo>
                  <a:pt x="7607679" y="4813586"/>
                </a:lnTo>
                <a:lnTo>
                  <a:pt x="0" y="4813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681933" y="4146056"/>
            <a:ext cx="3292727" cy="5310849"/>
          </a:xfrm>
          <a:custGeom>
            <a:avLst/>
            <a:gdLst/>
            <a:ahLst/>
            <a:cxnLst/>
            <a:rect r="r" b="b" t="t" l="l"/>
            <a:pathLst>
              <a:path h="5310849" w="3292727">
                <a:moveTo>
                  <a:pt x="0" y="0"/>
                </a:moveTo>
                <a:lnTo>
                  <a:pt x="3292727" y="0"/>
                </a:lnTo>
                <a:lnTo>
                  <a:pt x="3292727" y="5310849"/>
                </a:lnTo>
                <a:lnTo>
                  <a:pt x="0" y="53108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479773" y="6145918"/>
            <a:ext cx="3168214" cy="4813586"/>
          </a:xfrm>
          <a:custGeom>
            <a:avLst/>
            <a:gdLst/>
            <a:ahLst/>
            <a:cxnLst/>
            <a:rect r="r" b="b" t="t" l="l"/>
            <a:pathLst>
              <a:path h="4813586" w="3168214">
                <a:moveTo>
                  <a:pt x="0" y="0"/>
                </a:moveTo>
                <a:lnTo>
                  <a:pt x="3168214" y="0"/>
                </a:lnTo>
                <a:lnTo>
                  <a:pt x="3168214" y="4813585"/>
                </a:lnTo>
                <a:lnTo>
                  <a:pt x="0" y="48135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3798661" y="1432573"/>
            <a:ext cx="2984423" cy="4813586"/>
          </a:xfrm>
          <a:custGeom>
            <a:avLst/>
            <a:gdLst/>
            <a:ahLst/>
            <a:cxnLst/>
            <a:rect r="r" b="b" t="t" l="l"/>
            <a:pathLst>
              <a:path h="4813586" w="2984423">
                <a:moveTo>
                  <a:pt x="0" y="0"/>
                </a:moveTo>
                <a:lnTo>
                  <a:pt x="2984423" y="0"/>
                </a:lnTo>
                <a:lnTo>
                  <a:pt x="2984423" y="4813585"/>
                </a:lnTo>
                <a:lnTo>
                  <a:pt x="0" y="48135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1681933" y="541097"/>
            <a:ext cx="1523200" cy="3298268"/>
          </a:xfrm>
          <a:custGeom>
            <a:avLst/>
            <a:gdLst/>
            <a:ahLst/>
            <a:cxnLst/>
            <a:rect r="r" b="b" t="t" l="l"/>
            <a:pathLst>
              <a:path h="3298268" w="1523200">
                <a:moveTo>
                  <a:pt x="0" y="0"/>
                </a:moveTo>
                <a:lnTo>
                  <a:pt x="1523200" y="0"/>
                </a:lnTo>
                <a:lnTo>
                  <a:pt x="1523200" y="3298268"/>
                </a:lnTo>
                <a:lnTo>
                  <a:pt x="0" y="329826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9699662" y="4356453"/>
            <a:ext cx="1477446" cy="3199194"/>
          </a:xfrm>
          <a:custGeom>
            <a:avLst/>
            <a:gdLst/>
            <a:ahLst/>
            <a:cxnLst/>
            <a:rect r="r" b="b" t="t" l="l"/>
            <a:pathLst>
              <a:path h="3199194" w="1477446">
                <a:moveTo>
                  <a:pt x="0" y="0"/>
                </a:moveTo>
                <a:lnTo>
                  <a:pt x="1477446" y="0"/>
                </a:lnTo>
                <a:lnTo>
                  <a:pt x="1477446" y="3199195"/>
                </a:lnTo>
                <a:lnTo>
                  <a:pt x="0" y="31991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14974660" y="-787980"/>
            <a:ext cx="2884906" cy="3238159"/>
          </a:xfrm>
          <a:custGeom>
            <a:avLst/>
            <a:gdLst/>
            <a:ahLst/>
            <a:cxnLst/>
            <a:rect r="r" b="b" t="t" l="l"/>
            <a:pathLst>
              <a:path h="3238159" w="2884906">
                <a:moveTo>
                  <a:pt x="0" y="0"/>
                </a:moveTo>
                <a:lnTo>
                  <a:pt x="2884905" y="0"/>
                </a:lnTo>
                <a:lnTo>
                  <a:pt x="2884905" y="3238159"/>
                </a:lnTo>
                <a:lnTo>
                  <a:pt x="0" y="323815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0" id="10"/>
          <p:cNvSpPr txBox="true"/>
          <p:nvPr/>
        </p:nvSpPr>
        <p:spPr>
          <a:xfrm rot="0">
            <a:off x="1426315" y="1623892"/>
            <a:ext cx="4541031" cy="1633848"/>
          </a:xfrm>
          <a:prstGeom prst="rect">
            <a:avLst/>
          </a:prstGeom>
        </p:spPr>
        <p:txBody>
          <a:bodyPr anchor="t" rtlCol="false" tIns="0" lIns="0" bIns="0" rIns="0">
            <a:spAutoFit/>
          </a:bodyPr>
          <a:lstStyle/>
          <a:p>
            <a:pPr algn="l">
              <a:lnSpc>
                <a:spcPts val="6114"/>
              </a:lnSpc>
            </a:pPr>
            <a:r>
              <a:rPr lang="en-US" sz="6948" spc="-437" b="true">
                <a:solidFill>
                  <a:srgbClr val="1C0140"/>
                </a:solidFill>
                <a:latin typeface="Proxima Nova Bold"/>
                <a:ea typeface="Proxima Nova Bold"/>
                <a:cs typeface="Proxima Nova Bold"/>
                <a:sym typeface="Proxima Nova Bold"/>
              </a:rPr>
              <a:t>Projeto Back-end</a:t>
            </a:r>
          </a:p>
        </p:txBody>
      </p:sp>
      <p:sp>
        <p:nvSpPr>
          <p:cNvPr name="TextBox 11" id="11"/>
          <p:cNvSpPr txBox="true"/>
          <p:nvPr/>
        </p:nvSpPr>
        <p:spPr>
          <a:xfrm rot="0">
            <a:off x="1531677" y="3431469"/>
            <a:ext cx="2704827" cy="1147956"/>
          </a:xfrm>
          <a:prstGeom prst="rect">
            <a:avLst/>
          </a:prstGeom>
        </p:spPr>
        <p:txBody>
          <a:bodyPr anchor="t" rtlCol="false" tIns="0" lIns="0" bIns="0" rIns="0">
            <a:spAutoFit/>
          </a:bodyPr>
          <a:lstStyle/>
          <a:p>
            <a:pPr algn="l">
              <a:lnSpc>
                <a:spcPts val="1819"/>
              </a:lnSpc>
              <a:spcBef>
                <a:spcPct val="0"/>
              </a:spcBef>
            </a:pPr>
            <a:r>
              <a:rPr lang="en-US" sz="1299" spc="-81">
                <a:solidFill>
                  <a:srgbClr val="1C0140"/>
                </a:solidFill>
                <a:latin typeface="Proxima Nova"/>
                <a:ea typeface="Proxima Nova"/>
                <a:cs typeface="Proxima Nova"/>
                <a:sym typeface="Proxima Nova"/>
              </a:rPr>
              <a:t>Joao Pedro Nicacio Athademo da Silva </a:t>
            </a:r>
          </a:p>
          <a:p>
            <a:pPr algn="l">
              <a:lnSpc>
                <a:spcPts val="1819"/>
              </a:lnSpc>
              <a:spcBef>
                <a:spcPct val="0"/>
              </a:spcBef>
            </a:pPr>
            <a:r>
              <a:rPr lang="en-US" sz="1299" spc="-81">
                <a:solidFill>
                  <a:srgbClr val="1C0140"/>
                </a:solidFill>
                <a:latin typeface="Proxima Nova"/>
                <a:ea typeface="Proxima Nova"/>
                <a:cs typeface="Proxima Nova"/>
                <a:sym typeface="Proxima Nova"/>
              </a:rPr>
              <a:t> Giovanna Gomes Perrone</a:t>
            </a:r>
          </a:p>
          <a:p>
            <a:pPr algn="l">
              <a:lnSpc>
                <a:spcPts val="1819"/>
              </a:lnSpc>
              <a:spcBef>
                <a:spcPct val="0"/>
              </a:spcBef>
            </a:pPr>
            <a:r>
              <a:rPr lang="en-US" sz="1299" spc="-81">
                <a:solidFill>
                  <a:srgbClr val="1C0140"/>
                </a:solidFill>
                <a:latin typeface="Proxima Nova"/>
                <a:ea typeface="Proxima Nova"/>
                <a:cs typeface="Proxima Nova"/>
                <a:sym typeface="Proxima Nova"/>
              </a:rPr>
              <a:t>Maria Eduarda Perpetuo Lopes dos Santos </a:t>
            </a:r>
          </a:p>
          <a:p>
            <a:pPr algn="l">
              <a:lnSpc>
                <a:spcPts val="1819"/>
              </a:lnSpc>
              <a:spcBef>
                <a:spcPct val="0"/>
              </a:spcBef>
            </a:pPr>
            <a:r>
              <a:rPr lang="en-US" sz="1299" spc="-81">
                <a:solidFill>
                  <a:srgbClr val="1C0140"/>
                </a:solidFill>
                <a:latin typeface="Proxima Nova"/>
                <a:ea typeface="Proxima Nova"/>
                <a:cs typeface="Proxima Nova"/>
                <a:sym typeface="Proxima Nova"/>
              </a:rPr>
              <a:t>Luana Salles Souza Miranda</a:t>
            </a:r>
          </a:p>
          <a:p>
            <a:pPr algn="l">
              <a:lnSpc>
                <a:spcPts val="1819"/>
              </a:lnSpc>
              <a:spcBef>
                <a:spcPct val="0"/>
              </a:spcBef>
            </a:pPr>
            <a:r>
              <a:rPr lang="en-US" sz="1299" spc="-81">
                <a:solidFill>
                  <a:srgbClr val="1C0140"/>
                </a:solidFill>
                <a:latin typeface="Proxima Nova"/>
                <a:ea typeface="Proxima Nova"/>
                <a:cs typeface="Proxima Nova"/>
                <a:sym typeface="Proxima Nova"/>
              </a:rPr>
              <a:t>Julia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DAHG8sSeXHk</dc:identifier>
  <dcterms:modified xsi:type="dcterms:W3CDTF">2011-08-01T06:04:30Z</dcterms:modified>
  <cp:revision>1</cp:revision>
  <dc:title>Projeto Back-End</dc:title>
</cp:coreProperties>
</file>